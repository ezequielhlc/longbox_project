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241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931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Buenas tardes. Vamos a presentar Longbox, un sistema de gestión para una comiquería.</a:t>
            </a:r>
          </a:p>
          <a:p>
            <a:endParaRPr/>
          </a:p>
          <a:p>
            <a:r>
              <a:t>La presentación tiene dos partes de cinco minutos: primero qué es el sistema, qué está hecho y qué falta; después lo mostramos funcionando.</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Una comiquería maneja dos tipos de material: editorial, como manga y cómics, y no editorial, como figuras. El precio de un tomo importado depende del costo, del envío y de la cotización. Los proveedores anuncian novedades por correo. Y hay ventas en el local y online. Hoy eso se lleva con planillas y correos.</a:t>
            </a:r>
          </a:p>
          <a:p>
            <a:endParaRPr/>
          </a:p>
          <a:p>
            <a:r>
              <a:t>Longbox lo reúne en un sistema web con tres roles: el Administrador gestiona, el Cajero vende en el local y el Cliente compra en la tienda.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Estas son las funciones. Las seis de arriba y a la izquierda están construidas: el catálogo, el alta de lotes con cálculo de precios, el procesamiento de novedades de proveedores, el padrón de proveedores, las cuentas con sus roles y la auditoría.</a:t>
            </a:r>
          </a:p>
          <a:p>
            <a:endParaRPr/>
          </a:p>
          <a:p>
            <a:r>
              <a:t>Un punto importante: en las novedades, el modelo de lenguaje sólo propone borradores. Nada entra al catálogo sin que una persona lo confirme.</a:t>
            </a:r>
          </a:p>
          <a:p>
            <a:endParaRPr/>
          </a:p>
          <a:p>
            <a:r>
              <a:t>Las dos grises son la próxima etapa: la tienda con sus pedidos, y la caja, los puntos y las devoluciones.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trabajo tiene una regla central: el documento de análisis y el código tienen que decir lo mismo.</a:t>
            </a:r>
          </a:p>
          <a:p>
            <a:endParaRPr/>
          </a:p>
          <a:p>
            <a:r>
              <a:t>Cada caso de uso tiene contratos que declaran qué cambia en el sistema. Cada contrato tiene una prueba automática que lleva su código en el nombre. Así se puede comprobar, sin leer el código, qué parte del documento está cumplida.</a:t>
            </a:r>
          </a:p>
          <a:p>
            <a:endParaRPr/>
          </a:p>
          <a:p>
            <a:r>
              <a:t>Un caso de uso se da por terminado sólo cuando pasa estas siete verificaciones, incluidas la seguridad y la configuración de despliegue.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Así trabajamos. El ciclo del analista tiene seis etapas: abstraer, razonar, diseñar, elaborar, evaluar y corregir. Al corregir se vuelve a empezar, y el ciclo no termina.</a:t>
            </a:r>
          </a:p>
          <a:p>
            <a:endParaRPr/>
          </a:p>
          <a:p>
            <a:r>
              <a:t>La inteligencia artificial colabora en todas las etapas, con distinto peso. Al abstraer aporta poco: entender el negocio es trabajo del analista. Al razonar y diseñar ayuda bastante: encuentra ambigüedades y contradicciones, y propone planes con una recomendación. Al elaborar y evaluar es donde más acelera: escribe el código y las pruebas, y corre las verificaciones. Al corregir, arregla el código y deja registrada cada decisión en una bitácora.</a:t>
            </a:r>
          </a:p>
          <a:p>
            <a:endParaRPr/>
          </a:p>
          <a:p>
            <a:r>
              <a:t>La regla es la misma que aplicamos dentro del sistema: la IA propone y el analista decide. Nada se da por aprobado sin una decisión humana.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avance se mide contra el documento, no se estima.</a:t>
            </a:r>
          </a:p>
          <a:p>
            <a:endParaRPr/>
          </a:p>
          <a:p>
            <a:r>
              <a:t>El documento especifica 103 casos de uso y 219 contratos. Hay 57 casos de uso con código construido. De ellos, 11 están verificados: cumplen todos sus contratos y pasan las siete verificaciones. Otros 37 están construidos en parte.</a:t>
            </a:r>
          </a:p>
          <a:p>
            <a:endParaRPr/>
          </a:p>
          <a:p>
            <a:r>
              <a:t>El sistema tiene más de 1.400 pruebas automáticas, con 97 % de cobertura, y hoy todas las verificaciones están en verde.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Qué logramos.</a:t>
            </a:r>
          </a:p>
          <a:p>
            <a:endParaRPr/>
          </a:p>
          <a:p>
            <a:r>
              <a:t>Trazabilidad: se puede comprobar qué parte del documento está cumplida.</a:t>
            </a:r>
          </a:p>
          <a:p>
            <a:r>
              <a:t>Inteligencia artificial con control humano: el modelo propone, una persona confirma.</a:t>
            </a:r>
          </a:p>
          <a:p>
            <a:r>
              <a:t>Un registro de auditoría que nadie puede modificar, ni siquiera el Administrador.</a:t>
            </a:r>
          </a:p>
          <a:p>
            <a:r>
              <a:t>Control de acceso validado en el servidor para cada rol.</a:t>
            </a:r>
          </a:p>
          <a:p>
            <a:r>
              <a:t>Precios de importados calculados sin errores de redondeo.</a:t>
            </a:r>
          </a:p>
          <a:p>
            <a:r>
              <a:t>Y el sistema publicado en internet con HTTPS, que es lo que vamos a usar en la demostración.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Qué falta, en el orden en que lo vamos a construir.</a:t>
            </a:r>
          </a:p>
          <a:p>
            <a:endParaRPr/>
          </a:p>
          <a:p>
            <a:r>
              <a:t>Primero la cadena comercial: la tienda, el carrito, la compra y los pedidos. Todo lo que sigue depende del pedido.</a:t>
            </a:r>
          </a:p>
          <a:p>
            <a:r>
              <a:t>Después la operación del local: la caja, los puntos, las devoluciones.</a:t>
            </a:r>
          </a:p>
          <a:p>
            <a:r>
              <a:t>Tercero, los procesos que el sistema ejecuta solo, como vencimientos y avisos.</a:t>
            </a:r>
          </a:p>
          <a:p>
            <a:r>
              <a:t>Y en paralelo, completar las bajas de catálogo y la propagación de precios.</a:t>
            </a:r>
          </a:p>
          <a:p>
            <a:endParaRPr/>
          </a:p>
          <a:p>
            <a:r>
              <a:t>Ahora lo mostramos funcionando.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GUION DE LA DEMOSTRACIÓN (5 minutos)</a:t>
            </a:r>
          </a:p>
          <a:p>
            <a:endParaRPr/>
          </a:p>
          <a:p>
            <a:r>
              <a:t>0:00 · Abrir la dirección pública e iniciar sesión como Administrador.</a:t>
            </a:r>
          </a:p>
          <a:p>
            <a:r>
              <a:t>Decir: «Este es el panel del Administrador: cuentas activas, clientes y la actividad reciente, que sale del registro de auditoría».</a:t>
            </a:r>
          </a:p>
          <a:p>
            <a:endParaRPr/>
          </a:p>
          <a:p>
            <a:r>
              <a:t>0:40 · Menú → Catálogo → Inventario. Abrir la ficha de un producto.</a:t>
            </a:r>
          </a:p>
          <a:p>
            <a:r>
              <a:t>Decir: «El inventario se filtra por tipo, estado y stock. La ficha muestra precio, stock y el historial de cambios. Lo que el sistema calculó aparece marcado».</a:t>
            </a:r>
          </a:p>
          <a:p>
            <a:endParaRPr/>
          </a:p>
          <a:p>
            <a:r>
              <a:t>1:30 · Menú → Nuevo lote nacional. Elegir editorial, tipo y formato, y cargar un ítem.</a:t>
            </a:r>
          </a:p>
          <a:p>
            <a:r>
              <a:t>Decir: «El precio no se escribe: sale de la tabla de referencia de esa combinación. Si se cambia a mano, el sistema pide confirmación, porque ese producto deja de actualizarse solo». No hace falta guardar.</a:t>
            </a:r>
          </a:p>
          <a:p>
            <a:endParaRPr/>
          </a:p>
          <a:p>
            <a:r>
              <a:t>2:30 · Menú → Proveedores → Correos recibidos. Abrir un correo procesado.</a:t>
            </a:r>
          </a:p>
          <a:p>
            <a:r>
              <a:t>Decir: «Los proveedores anuncian novedades por correo. El correo espera en una cola hasta que alguien lo aprueba. El modelo de lenguaje extrae los productos y propone borradores».</a:t>
            </a:r>
          </a:p>
          <a:p>
            <a:endParaRPr/>
          </a:p>
          <a:p>
            <a:r>
              <a:t>3:30 · Menú → Catálogo → Revisar borradores. Abrir uno.</a:t>
            </a:r>
          </a:p>
          <a:p>
            <a:r>
              <a:t>Decir: «El borrador marca los datos dudosos. Nada entra al catálogo hasta que una persona lo confirma. Esa es la regla: la IA propone, una persona decide».</a:t>
            </a:r>
          </a:p>
          <a:p>
            <a:endParaRPr/>
          </a:p>
          <a:p>
            <a:r>
              <a:t>4:15 · Cerrar sesión e iniciar como Cajero.</a:t>
            </a:r>
          </a:p>
          <a:p>
            <a:r>
              <a:t>Decir: «El Cajero ve el mostrador y el inventario, nada más. El acceso se controla en el servidor». Si hay tiempo, mostrar la tienda como Cliente.</a:t>
            </a:r>
          </a:p>
          <a:p>
            <a:endParaRPr/>
          </a:p>
          <a:p>
            <a:r>
              <a:t>Si el modelo de lenguaje no está disponible, mostrar un correo ya procesado en lugar de aprobar uno nuevo.</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cerrar: Longbox es un sistema para toda la comiquería, construido paso a paso y verificado contra su documento de análisis.</a:t>
            </a:r>
          </a:p>
          <a:p>
            <a:endParaRPr/>
          </a:p>
          <a:p>
            <a:r>
              <a:t>Gracias. Quedamos a disposición para preguntas.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‹Nº›</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‹Nº›</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822960" y="2011680"/>
            <a:ext cx="1280160" cy="73152"/>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240280"/>
            <a:ext cx="10058400" cy="1097280"/>
          </a:xfrm>
          <a:prstGeom prst="rect">
            <a:avLst/>
          </a:prstGeom>
          <a:noFill/>
        </p:spPr>
        <p:txBody>
          <a:bodyPr wrap="square" lIns="45720" tIns="18288" rIns="45720" bIns="18288" anchor="t">
            <a:spAutoFit/>
          </a:bodyPr>
          <a:lstStyle/>
          <a:p>
            <a:pPr algn="l">
              <a:lnSpc>
                <a:spcPct val="115000"/>
              </a:lnSpc>
              <a:spcAft>
                <a:spcPts val="600"/>
              </a:spcAft>
            </a:pPr>
            <a:r>
              <a:rPr sz="6600" b="0">
                <a:solidFill>
                  <a:srgbClr val="FFFFFF"/>
                </a:solidFill>
                <a:latin typeface="Segoe UI Semibold"/>
              </a:rPr>
              <a:t>Longbox</a:t>
            </a:r>
          </a:p>
        </p:txBody>
      </p:sp>
      <p:sp>
        <p:nvSpPr>
          <p:cNvPr id="4" name="TextBox 3"/>
          <p:cNvSpPr txBox="1"/>
          <p:nvPr/>
        </p:nvSpPr>
        <p:spPr>
          <a:xfrm>
            <a:off x="822960" y="3337560"/>
            <a:ext cx="10058400" cy="640080"/>
          </a:xfrm>
          <a:prstGeom prst="rect">
            <a:avLst/>
          </a:prstGeom>
          <a:noFill/>
        </p:spPr>
        <p:txBody>
          <a:bodyPr wrap="square" lIns="45720" tIns="18288" rIns="45720" bIns="18288" anchor="t">
            <a:spAutoFit/>
          </a:bodyPr>
          <a:lstStyle/>
          <a:p>
            <a:pPr algn="l">
              <a:lnSpc>
                <a:spcPct val="115000"/>
              </a:lnSpc>
              <a:spcAft>
                <a:spcPts val="600"/>
              </a:spcAft>
            </a:pPr>
            <a:r>
              <a:rPr sz="2600" b="0">
                <a:solidFill>
                  <a:srgbClr val="D9D9D9"/>
                </a:solidFill>
                <a:latin typeface="Segoe UI"/>
              </a:rPr>
              <a:t>Sistema de gestión integral para una comiquería</a:t>
            </a:r>
          </a:p>
        </p:txBody>
      </p:sp>
      <p:sp>
        <p:nvSpPr>
          <p:cNvPr id="5" name="TextBox 4"/>
          <p:cNvSpPr txBox="1"/>
          <p:nvPr/>
        </p:nvSpPr>
        <p:spPr>
          <a:xfrm>
            <a:off x="822960" y="5029200"/>
            <a:ext cx="10058400" cy="822960"/>
          </a:xfrm>
          <a:prstGeom prst="rect">
            <a:avLst/>
          </a:prstGeom>
          <a:noFill/>
        </p:spPr>
        <p:txBody>
          <a:bodyPr wrap="square" lIns="45720" tIns="18288" rIns="45720" bIns="18288" anchor="t">
            <a:spAutoFit/>
          </a:bodyPr>
          <a:lstStyle/>
          <a:p>
            <a:pPr algn="l">
              <a:lnSpc>
                <a:spcPct val="115000"/>
              </a:lnSpc>
              <a:spcAft>
                <a:spcPts val="600"/>
              </a:spcAft>
            </a:pPr>
            <a:r>
              <a:rPr sz="1600" b="0">
                <a:solidFill>
                  <a:srgbClr val="FFFFFF"/>
                </a:solidFill>
                <a:latin typeface="Segoe UI"/>
              </a:rPr>
              <a:t>Trabajo final de grado</a:t>
            </a:r>
          </a:p>
          <a:p>
            <a:pPr algn="l">
              <a:lnSpc>
                <a:spcPct val="115000"/>
              </a:lnSpc>
              <a:spcAft>
                <a:spcPts val="600"/>
              </a:spcAft>
            </a:pPr>
            <a:r>
              <a:rPr sz="1400" b="0">
                <a:solidFill>
                  <a:srgbClr val="6E6E6E"/>
                </a:solidFill>
                <a:latin typeface="Segoe UI"/>
              </a:rPr>
              <a:t>5 minutos de presentación  ·  5 minutos de demostración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36576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F26B1D"/>
                </a:solidFill>
                <a:latin typeface="Segoe UI"/>
              </a:rPr>
              <a:t>QUÉ ES</a:t>
            </a:r>
          </a:p>
        </p:txBody>
      </p:sp>
      <p:sp>
        <p:nvSpPr>
          <p:cNvPr id="4" name="TextBox 3"/>
          <p:cNvSpPr txBox="1"/>
          <p:nvPr/>
        </p:nvSpPr>
        <p:spPr>
          <a:xfrm>
            <a:off x="640080" y="731520"/>
            <a:ext cx="10789920" cy="822960"/>
          </a:xfrm>
          <a:prstGeom prst="rect">
            <a:avLst/>
          </a:prstGeom>
          <a:noFill/>
        </p:spPr>
        <p:txBody>
          <a:bodyPr wrap="square" lIns="45720" tIns="18288" rIns="45720" bIns="18288" anchor="t">
            <a:spAutoFit/>
          </a:bodyPr>
          <a:lstStyle/>
          <a:p>
            <a:pPr algn="l">
              <a:lnSpc>
                <a:spcPct val="115000"/>
              </a:lnSpc>
              <a:spcAft>
                <a:spcPts val="600"/>
              </a:spcAft>
            </a:pPr>
            <a:r>
              <a:rPr sz="3400" b="0">
                <a:solidFill>
                  <a:srgbClr val="111111"/>
                </a:solidFill>
                <a:latin typeface="Segoe UI Semibold"/>
              </a:rPr>
              <a:t>Un solo sistema para toda la comiquería</a:t>
            </a:r>
          </a:p>
        </p:txBody>
      </p:sp>
      <p:sp>
        <p:nvSpPr>
          <p:cNvPr id="5" name="Rectangle 4"/>
          <p:cNvSpPr/>
          <p:nvPr/>
        </p:nvSpPr>
        <p:spPr>
          <a:xfrm>
            <a:off x="640080" y="1572768"/>
            <a:ext cx="108813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355080"/>
            <a:ext cx="108813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00800"/>
            <a:ext cx="5486400" cy="320040"/>
          </a:xfrm>
          <a:prstGeom prst="rect">
            <a:avLst/>
          </a:prstGeom>
          <a:noFill/>
        </p:spPr>
        <p:txBody>
          <a:bodyPr wrap="square" lIns="45720" tIns="18288" rIns="45720" bIns="18288" anchor="t">
            <a:spAutoFit/>
          </a:bodyPr>
          <a:lstStyle/>
          <a:p>
            <a:pPr algn="l">
              <a:lnSpc>
                <a:spcPct val="115000"/>
              </a:lnSpc>
              <a:spcAft>
                <a:spcPts val="600"/>
              </a:spcAft>
            </a:pPr>
            <a:r>
              <a:rPr sz="1000" b="0">
                <a:solidFill>
                  <a:srgbClr val="6E6E6E"/>
                </a:solidFill>
                <a:latin typeface="Segoe UI"/>
              </a:rPr>
              <a:t>Longbox · Trabajo final de grado</a:t>
            </a:r>
          </a:p>
        </p:txBody>
      </p:sp>
      <p:sp>
        <p:nvSpPr>
          <p:cNvPr id="8" name="TextBox 7"/>
          <p:cNvSpPr txBox="1"/>
          <p:nvPr/>
        </p:nvSpPr>
        <p:spPr>
          <a:xfrm>
            <a:off x="6949440" y="6400800"/>
            <a:ext cx="4572000" cy="320040"/>
          </a:xfrm>
          <a:prstGeom prst="rect">
            <a:avLst/>
          </a:prstGeom>
          <a:noFill/>
        </p:spPr>
        <p:txBody>
          <a:bodyPr wrap="square" lIns="45720" tIns="18288" rIns="45720" bIns="18288" anchor="t">
            <a:spAutoFit/>
          </a:bodyPr>
          <a:lstStyle/>
          <a:p>
            <a:pPr algn="r">
              <a:lnSpc>
                <a:spcPct val="115000"/>
              </a:lnSpc>
              <a:spcAft>
                <a:spcPts val="600"/>
              </a:spcAft>
            </a:pPr>
            <a:r>
              <a:rPr sz="1000" b="0">
                <a:solidFill>
                  <a:srgbClr val="6E6E6E"/>
                </a:solidFill>
                <a:latin typeface="Segoe UI"/>
              </a:rPr>
              <a:t>Presentación · 0:20   ·   2 / 10</a:t>
            </a:r>
          </a:p>
        </p:txBody>
      </p:sp>
      <p:sp>
        <p:nvSpPr>
          <p:cNvPr id="9" name="TextBox 8"/>
          <p:cNvSpPr txBox="1"/>
          <p:nvPr/>
        </p:nvSpPr>
        <p:spPr>
          <a:xfrm>
            <a:off x="640080" y="1920240"/>
            <a:ext cx="5669280" cy="365760"/>
          </a:xfrm>
          <a:prstGeom prst="rect">
            <a:avLst/>
          </a:prstGeom>
          <a:noFill/>
        </p:spPr>
        <p:txBody>
          <a:bodyPr wrap="square" lIns="45720" tIns="18288" rIns="45720" bIns="18288" anchor="t">
            <a:spAutoFit/>
          </a:bodyPr>
          <a:lstStyle/>
          <a:p>
            <a:pPr algn="l">
              <a:lnSpc>
                <a:spcPct val="115000"/>
              </a:lnSpc>
              <a:spcAft>
                <a:spcPts val="600"/>
              </a:spcAft>
            </a:pPr>
            <a:r>
              <a:rPr sz="2000" b="1">
                <a:solidFill>
                  <a:srgbClr val="111111"/>
                </a:solidFill>
                <a:latin typeface="Segoe UI"/>
              </a:rPr>
              <a:t>El problema</a:t>
            </a:r>
          </a:p>
        </p:txBody>
      </p:sp>
      <p:sp>
        <p:nvSpPr>
          <p:cNvPr id="10" name="TextBox 9"/>
          <p:cNvSpPr txBox="1"/>
          <p:nvPr/>
        </p:nvSpPr>
        <p:spPr>
          <a:xfrm>
            <a:off x="640080" y="2377440"/>
            <a:ext cx="5486400" cy="3200400"/>
          </a:xfrm>
          <a:prstGeom prst="rect">
            <a:avLst/>
          </a:prstGeom>
          <a:noFill/>
        </p:spPr>
        <p:txBody>
          <a:bodyPr wrap="square" lIns="45720" tIns="18288" rIns="45720" bIns="18288" anchor="t">
            <a:spAutoFit/>
          </a:bodyPr>
          <a:lstStyle/>
          <a:p>
            <a:pPr algn="l">
              <a:lnSpc>
                <a:spcPct val="115000"/>
              </a:lnSpc>
              <a:spcAft>
                <a:spcPts val="1200"/>
              </a:spcAft>
            </a:pPr>
            <a:r>
              <a:rPr sz="1700" b="0">
                <a:solidFill>
                  <a:srgbClr val="3A3A3A"/>
                </a:solidFill>
                <a:latin typeface="Segoe UI"/>
              </a:rPr>
              <a:t>Material editorial nacional e importado, con precios que dependen de la editorial, el formato, el envío y la cotización.</a:t>
            </a:r>
          </a:p>
          <a:p>
            <a:pPr algn="l">
              <a:lnSpc>
                <a:spcPct val="115000"/>
              </a:lnSpc>
              <a:spcAft>
                <a:spcPts val="1200"/>
              </a:spcAft>
            </a:pPr>
            <a:r>
              <a:rPr sz="1700" b="0">
                <a:solidFill>
                  <a:srgbClr val="3A3A3A"/>
                </a:solidFill>
                <a:latin typeface="Segoe UI"/>
              </a:rPr>
              <a:t>Proveedores que anuncian novedades por correo.</a:t>
            </a:r>
          </a:p>
          <a:p>
            <a:pPr algn="l">
              <a:lnSpc>
                <a:spcPct val="115000"/>
              </a:lnSpc>
              <a:spcAft>
                <a:spcPts val="1200"/>
              </a:spcAft>
            </a:pPr>
            <a:r>
              <a:rPr sz="1700" b="0">
                <a:solidFill>
                  <a:srgbClr val="3A3A3A"/>
                </a:solidFill>
                <a:latin typeface="Segoe UI"/>
              </a:rPr>
              <a:t>Ventas en el local y una tienda online.</a:t>
            </a:r>
          </a:p>
          <a:p>
            <a:pPr algn="l">
              <a:lnSpc>
                <a:spcPct val="115000"/>
              </a:lnSpc>
              <a:spcAft>
                <a:spcPts val="1200"/>
              </a:spcAft>
            </a:pPr>
            <a:r>
              <a:rPr sz="1700" b="0">
                <a:solidFill>
                  <a:srgbClr val="3A3A3A"/>
                </a:solidFill>
                <a:latin typeface="Segoe UI"/>
              </a:rPr>
              <a:t>Hoy todo se resuelve con planillas, correos y memoria.</a:t>
            </a:r>
          </a:p>
        </p:txBody>
      </p:sp>
      <p:sp>
        <p:nvSpPr>
          <p:cNvPr id="11" name="Rectangle 10"/>
          <p:cNvSpPr/>
          <p:nvPr/>
        </p:nvSpPr>
        <p:spPr>
          <a:xfrm>
            <a:off x="6675120" y="1920240"/>
            <a:ext cx="4846320" cy="4114800"/>
          </a:xfrm>
          <a:prstGeom prst="rect">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675120" y="1920240"/>
            <a:ext cx="73152" cy="41148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040880" y="2148840"/>
            <a:ext cx="4389120" cy="365760"/>
          </a:xfrm>
          <a:prstGeom prst="rect">
            <a:avLst/>
          </a:prstGeom>
          <a:noFill/>
        </p:spPr>
        <p:txBody>
          <a:bodyPr wrap="square" lIns="45720" tIns="18288" rIns="45720" bIns="18288" anchor="t">
            <a:spAutoFit/>
          </a:bodyPr>
          <a:lstStyle/>
          <a:p>
            <a:pPr algn="l">
              <a:lnSpc>
                <a:spcPct val="115000"/>
              </a:lnSpc>
              <a:spcAft>
                <a:spcPts val="600"/>
              </a:spcAft>
            </a:pPr>
            <a:r>
              <a:rPr sz="2000" b="1">
                <a:solidFill>
                  <a:srgbClr val="111111"/>
                </a:solidFill>
                <a:latin typeface="Segoe UI"/>
              </a:rPr>
              <a:t>La solución</a:t>
            </a:r>
          </a:p>
        </p:txBody>
      </p:sp>
      <p:sp>
        <p:nvSpPr>
          <p:cNvPr id="14" name="TextBox 13"/>
          <p:cNvSpPr txBox="1"/>
          <p:nvPr/>
        </p:nvSpPr>
        <p:spPr>
          <a:xfrm>
            <a:off x="7040880" y="2606040"/>
            <a:ext cx="4297680" cy="1188720"/>
          </a:xfrm>
          <a:prstGeom prst="rect">
            <a:avLst/>
          </a:prstGeom>
          <a:noFill/>
        </p:spPr>
        <p:txBody>
          <a:bodyPr wrap="square" lIns="45720" tIns="18288" rIns="45720" bIns="18288" anchor="t">
            <a:spAutoFit/>
          </a:bodyPr>
          <a:lstStyle/>
          <a:p>
            <a:pPr algn="l">
              <a:lnSpc>
                <a:spcPct val="115000"/>
              </a:lnSpc>
              <a:spcAft>
                <a:spcPts val="600"/>
              </a:spcAft>
            </a:pPr>
            <a:r>
              <a:rPr sz="1700" b="0">
                <a:solidFill>
                  <a:srgbClr val="3A3A3A"/>
                </a:solidFill>
                <a:latin typeface="Segoe UI"/>
              </a:rPr>
              <a:t>Longbox reúne la operación en un sistema web: un backoffice para el personal y una tienda para los clientes.</a:t>
            </a:r>
          </a:p>
        </p:txBody>
      </p:sp>
      <p:sp>
        <p:nvSpPr>
          <p:cNvPr id="15" name="TextBox 14"/>
          <p:cNvSpPr txBox="1"/>
          <p:nvPr/>
        </p:nvSpPr>
        <p:spPr>
          <a:xfrm>
            <a:off x="7040880" y="3931920"/>
            <a:ext cx="1645920" cy="365760"/>
          </a:xfrm>
          <a:prstGeom prst="rect">
            <a:avLst/>
          </a:prstGeom>
          <a:noFill/>
        </p:spPr>
        <p:txBody>
          <a:bodyPr wrap="square" lIns="45720" tIns="18288" rIns="45720" bIns="18288" anchor="t">
            <a:spAutoFit/>
          </a:bodyPr>
          <a:lstStyle/>
          <a:p>
            <a:pPr algn="l">
              <a:lnSpc>
                <a:spcPct val="115000"/>
              </a:lnSpc>
              <a:spcAft>
                <a:spcPts val="600"/>
              </a:spcAft>
            </a:pPr>
            <a:r>
              <a:rPr sz="1500" b="1">
                <a:solidFill>
                  <a:srgbClr val="F26B1D"/>
                </a:solidFill>
                <a:latin typeface="Segoe UI"/>
              </a:rPr>
              <a:t>Administrador</a:t>
            </a:r>
          </a:p>
        </p:txBody>
      </p:sp>
      <p:sp>
        <p:nvSpPr>
          <p:cNvPr id="16" name="TextBox 15"/>
          <p:cNvSpPr txBox="1"/>
          <p:nvPr/>
        </p:nvSpPr>
        <p:spPr>
          <a:xfrm>
            <a:off x="8641080" y="3931920"/>
            <a:ext cx="2834640" cy="64008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3A3A3A"/>
                </a:solidFill>
                <a:latin typeface="Segoe UI"/>
              </a:rPr>
              <a:t>Gestiona catálogo, precios, proveedores y cuentas.</a:t>
            </a:r>
          </a:p>
        </p:txBody>
      </p:sp>
      <p:sp>
        <p:nvSpPr>
          <p:cNvPr id="17" name="TextBox 16"/>
          <p:cNvSpPr txBox="1"/>
          <p:nvPr/>
        </p:nvSpPr>
        <p:spPr>
          <a:xfrm>
            <a:off x="7040880" y="4590288"/>
            <a:ext cx="1645920" cy="365760"/>
          </a:xfrm>
          <a:prstGeom prst="rect">
            <a:avLst/>
          </a:prstGeom>
          <a:noFill/>
        </p:spPr>
        <p:txBody>
          <a:bodyPr wrap="square" lIns="45720" tIns="18288" rIns="45720" bIns="18288" anchor="t">
            <a:spAutoFit/>
          </a:bodyPr>
          <a:lstStyle/>
          <a:p>
            <a:pPr algn="l">
              <a:lnSpc>
                <a:spcPct val="115000"/>
              </a:lnSpc>
              <a:spcAft>
                <a:spcPts val="600"/>
              </a:spcAft>
            </a:pPr>
            <a:r>
              <a:rPr sz="1500" b="1">
                <a:solidFill>
                  <a:srgbClr val="F26B1D"/>
                </a:solidFill>
                <a:latin typeface="Segoe UI"/>
              </a:rPr>
              <a:t>Cajero</a:t>
            </a:r>
          </a:p>
        </p:txBody>
      </p:sp>
      <p:sp>
        <p:nvSpPr>
          <p:cNvPr id="18" name="TextBox 17"/>
          <p:cNvSpPr txBox="1"/>
          <p:nvPr/>
        </p:nvSpPr>
        <p:spPr>
          <a:xfrm>
            <a:off x="8641080" y="4590288"/>
            <a:ext cx="2834640" cy="64008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3A3A3A"/>
                </a:solidFill>
                <a:latin typeface="Segoe UI"/>
              </a:rPr>
              <a:t>Consulta el inventario y vende en el mostrador.</a:t>
            </a:r>
          </a:p>
        </p:txBody>
      </p:sp>
      <p:sp>
        <p:nvSpPr>
          <p:cNvPr id="19" name="TextBox 18"/>
          <p:cNvSpPr txBox="1"/>
          <p:nvPr/>
        </p:nvSpPr>
        <p:spPr>
          <a:xfrm>
            <a:off x="7040880" y="5248656"/>
            <a:ext cx="1645920" cy="365760"/>
          </a:xfrm>
          <a:prstGeom prst="rect">
            <a:avLst/>
          </a:prstGeom>
          <a:noFill/>
        </p:spPr>
        <p:txBody>
          <a:bodyPr wrap="square" lIns="45720" tIns="18288" rIns="45720" bIns="18288" anchor="t">
            <a:spAutoFit/>
          </a:bodyPr>
          <a:lstStyle/>
          <a:p>
            <a:pPr algn="l">
              <a:lnSpc>
                <a:spcPct val="115000"/>
              </a:lnSpc>
              <a:spcAft>
                <a:spcPts val="600"/>
              </a:spcAft>
            </a:pPr>
            <a:r>
              <a:rPr sz="1500" b="1">
                <a:solidFill>
                  <a:srgbClr val="F26B1D"/>
                </a:solidFill>
                <a:latin typeface="Segoe UI"/>
              </a:rPr>
              <a:t>Cliente</a:t>
            </a:r>
          </a:p>
        </p:txBody>
      </p:sp>
      <p:sp>
        <p:nvSpPr>
          <p:cNvPr id="20" name="TextBox 19"/>
          <p:cNvSpPr txBox="1"/>
          <p:nvPr/>
        </p:nvSpPr>
        <p:spPr>
          <a:xfrm>
            <a:off x="8641080" y="5248656"/>
            <a:ext cx="2834640" cy="64008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3A3A3A"/>
                </a:solidFill>
                <a:latin typeface="Segoe UI"/>
              </a:rPr>
              <a:t>Se registra y compra en la tienda.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36576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F26B1D"/>
                </a:solidFill>
                <a:latin typeface="Segoe UI"/>
              </a:rPr>
              <a:t>QUÉ HACE</a:t>
            </a:r>
          </a:p>
        </p:txBody>
      </p:sp>
      <p:sp>
        <p:nvSpPr>
          <p:cNvPr id="4" name="TextBox 3"/>
          <p:cNvSpPr txBox="1"/>
          <p:nvPr/>
        </p:nvSpPr>
        <p:spPr>
          <a:xfrm>
            <a:off x="640080" y="731520"/>
            <a:ext cx="10789920" cy="822960"/>
          </a:xfrm>
          <a:prstGeom prst="rect">
            <a:avLst/>
          </a:prstGeom>
          <a:noFill/>
        </p:spPr>
        <p:txBody>
          <a:bodyPr wrap="square" lIns="45720" tIns="18288" rIns="45720" bIns="18288" anchor="t">
            <a:spAutoFit/>
          </a:bodyPr>
          <a:lstStyle/>
          <a:p>
            <a:pPr algn="l">
              <a:lnSpc>
                <a:spcPct val="115000"/>
              </a:lnSpc>
              <a:spcAft>
                <a:spcPts val="600"/>
              </a:spcAft>
            </a:pPr>
            <a:r>
              <a:rPr sz="3400" b="0">
                <a:solidFill>
                  <a:srgbClr val="111111"/>
                </a:solidFill>
                <a:latin typeface="Segoe UI Semibold"/>
              </a:rPr>
              <a:t>Funciones del sistema</a:t>
            </a:r>
          </a:p>
        </p:txBody>
      </p:sp>
      <p:sp>
        <p:nvSpPr>
          <p:cNvPr id="5" name="Rectangle 4"/>
          <p:cNvSpPr/>
          <p:nvPr/>
        </p:nvSpPr>
        <p:spPr>
          <a:xfrm>
            <a:off x="640080" y="1572768"/>
            <a:ext cx="108813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355080"/>
            <a:ext cx="108813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00800"/>
            <a:ext cx="5486400" cy="320040"/>
          </a:xfrm>
          <a:prstGeom prst="rect">
            <a:avLst/>
          </a:prstGeom>
          <a:noFill/>
        </p:spPr>
        <p:txBody>
          <a:bodyPr wrap="square" lIns="45720" tIns="18288" rIns="45720" bIns="18288" anchor="t">
            <a:spAutoFit/>
          </a:bodyPr>
          <a:lstStyle/>
          <a:p>
            <a:pPr algn="l">
              <a:lnSpc>
                <a:spcPct val="115000"/>
              </a:lnSpc>
              <a:spcAft>
                <a:spcPts val="600"/>
              </a:spcAft>
            </a:pPr>
            <a:r>
              <a:rPr sz="1000" b="0">
                <a:solidFill>
                  <a:srgbClr val="6E6E6E"/>
                </a:solidFill>
                <a:latin typeface="Segoe UI"/>
              </a:rPr>
              <a:t>Longbox · Trabajo final de grado</a:t>
            </a:r>
          </a:p>
        </p:txBody>
      </p:sp>
      <p:sp>
        <p:nvSpPr>
          <p:cNvPr id="8" name="TextBox 7"/>
          <p:cNvSpPr txBox="1"/>
          <p:nvPr/>
        </p:nvSpPr>
        <p:spPr>
          <a:xfrm>
            <a:off x="6949440" y="6400800"/>
            <a:ext cx="4572000" cy="320040"/>
          </a:xfrm>
          <a:prstGeom prst="rect">
            <a:avLst/>
          </a:prstGeom>
          <a:noFill/>
        </p:spPr>
        <p:txBody>
          <a:bodyPr wrap="square" lIns="45720" tIns="18288" rIns="45720" bIns="18288" anchor="t">
            <a:spAutoFit/>
          </a:bodyPr>
          <a:lstStyle/>
          <a:p>
            <a:pPr algn="r">
              <a:lnSpc>
                <a:spcPct val="115000"/>
              </a:lnSpc>
              <a:spcAft>
                <a:spcPts val="600"/>
              </a:spcAft>
            </a:pPr>
            <a:r>
              <a:rPr sz="1000" b="0">
                <a:solidFill>
                  <a:srgbClr val="6E6E6E"/>
                </a:solidFill>
                <a:latin typeface="Segoe UI"/>
              </a:rPr>
              <a:t>Presentación · 1:00   ·   3 / 10</a:t>
            </a:r>
          </a:p>
        </p:txBody>
      </p:sp>
      <p:sp>
        <p:nvSpPr>
          <p:cNvPr id="9" name="Rectangle 8"/>
          <p:cNvSpPr/>
          <p:nvPr/>
        </p:nvSpPr>
        <p:spPr>
          <a:xfrm>
            <a:off x="640080" y="1874519"/>
            <a:ext cx="2606040" cy="196596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40080" y="1874519"/>
            <a:ext cx="2606040" cy="6400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 y="2103120"/>
            <a:ext cx="2286000" cy="64008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Catálogo e inventario</a:t>
            </a:r>
          </a:p>
        </p:txBody>
      </p:sp>
      <p:sp>
        <p:nvSpPr>
          <p:cNvPr id="12" name="TextBox 11"/>
          <p:cNvSpPr txBox="1"/>
          <p:nvPr/>
        </p:nvSpPr>
        <p:spPr>
          <a:xfrm>
            <a:off x="822959" y="2743200"/>
            <a:ext cx="2286000" cy="914400"/>
          </a:xfrm>
          <a:prstGeom prst="rect">
            <a:avLst/>
          </a:prstGeom>
          <a:noFill/>
        </p:spPr>
        <p:txBody>
          <a:bodyPr wrap="square" lIns="45720" tIns="18288" rIns="45720" bIns="18288" anchor="t">
            <a:spAutoFit/>
          </a:bodyPr>
          <a:lstStyle/>
          <a:p>
            <a:pPr algn="l">
              <a:lnSpc>
                <a:spcPct val="115000"/>
              </a:lnSpc>
              <a:spcAft>
                <a:spcPts val="600"/>
              </a:spcAft>
            </a:pPr>
            <a:r>
              <a:rPr sz="1250" b="0">
                <a:solidFill>
                  <a:srgbClr val="3A3A3A"/>
                </a:solidFill>
                <a:latin typeface="Segoe UI"/>
              </a:rPr>
              <a:t>Productos editoriales y no editoriales, fichas, etiquetas y stock.</a:t>
            </a:r>
          </a:p>
        </p:txBody>
      </p:sp>
      <p:sp>
        <p:nvSpPr>
          <p:cNvPr id="13" name="TextBox 12"/>
          <p:cNvSpPr txBox="1"/>
          <p:nvPr/>
        </p:nvSpPr>
        <p:spPr>
          <a:xfrm>
            <a:off x="822959" y="3447287"/>
            <a:ext cx="2286000" cy="27432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F26B1D"/>
                </a:solidFill>
                <a:latin typeface="Segoe UI"/>
              </a:rPr>
              <a:t>Construido</a:t>
            </a:r>
          </a:p>
        </p:txBody>
      </p:sp>
      <p:sp>
        <p:nvSpPr>
          <p:cNvPr id="14" name="Rectangle 13"/>
          <p:cNvSpPr/>
          <p:nvPr/>
        </p:nvSpPr>
        <p:spPr>
          <a:xfrm>
            <a:off x="3401568" y="1874519"/>
            <a:ext cx="2606040" cy="196596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01568" y="1874519"/>
            <a:ext cx="2606040" cy="6400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84448" y="2103120"/>
            <a:ext cx="2286000" cy="64008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Alta de lotes</a:t>
            </a:r>
          </a:p>
        </p:txBody>
      </p:sp>
      <p:sp>
        <p:nvSpPr>
          <p:cNvPr id="17" name="TextBox 16"/>
          <p:cNvSpPr txBox="1"/>
          <p:nvPr/>
        </p:nvSpPr>
        <p:spPr>
          <a:xfrm>
            <a:off x="3584448" y="2743200"/>
            <a:ext cx="2286000" cy="914400"/>
          </a:xfrm>
          <a:prstGeom prst="rect">
            <a:avLst/>
          </a:prstGeom>
          <a:noFill/>
        </p:spPr>
        <p:txBody>
          <a:bodyPr wrap="square" lIns="45720" tIns="18288" rIns="45720" bIns="18288" anchor="t">
            <a:spAutoFit/>
          </a:bodyPr>
          <a:lstStyle/>
          <a:p>
            <a:pPr algn="l">
              <a:lnSpc>
                <a:spcPct val="115000"/>
              </a:lnSpc>
              <a:spcAft>
                <a:spcPts val="600"/>
              </a:spcAft>
            </a:pPr>
            <a:r>
              <a:rPr sz="1250" b="0">
                <a:solidFill>
                  <a:srgbClr val="3A3A3A"/>
                </a:solidFill>
                <a:latin typeface="Segoe UI"/>
              </a:rPr>
              <a:t>Nacional con tabla de precios. Importado con costo, envío y margen.</a:t>
            </a:r>
          </a:p>
        </p:txBody>
      </p:sp>
      <p:sp>
        <p:nvSpPr>
          <p:cNvPr id="18" name="TextBox 17"/>
          <p:cNvSpPr txBox="1"/>
          <p:nvPr/>
        </p:nvSpPr>
        <p:spPr>
          <a:xfrm>
            <a:off x="3584448" y="3447287"/>
            <a:ext cx="2286000" cy="27432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F26B1D"/>
                </a:solidFill>
                <a:latin typeface="Segoe UI"/>
              </a:rPr>
              <a:t>Construido</a:t>
            </a:r>
          </a:p>
        </p:txBody>
      </p:sp>
      <p:sp>
        <p:nvSpPr>
          <p:cNvPr id="19" name="Rectangle 18"/>
          <p:cNvSpPr/>
          <p:nvPr/>
        </p:nvSpPr>
        <p:spPr>
          <a:xfrm>
            <a:off x="6163056" y="1874519"/>
            <a:ext cx="2606040" cy="196596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63056" y="1874519"/>
            <a:ext cx="2606040" cy="6400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2103120"/>
            <a:ext cx="2286000" cy="64008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Novedades de proveedores</a:t>
            </a:r>
          </a:p>
        </p:txBody>
      </p:sp>
      <p:sp>
        <p:nvSpPr>
          <p:cNvPr id="22" name="TextBox 21"/>
          <p:cNvSpPr txBox="1"/>
          <p:nvPr/>
        </p:nvSpPr>
        <p:spPr>
          <a:xfrm>
            <a:off x="6345936" y="2743200"/>
            <a:ext cx="2286000" cy="914400"/>
          </a:xfrm>
          <a:prstGeom prst="rect">
            <a:avLst/>
          </a:prstGeom>
          <a:noFill/>
        </p:spPr>
        <p:txBody>
          <a:bodyPr wrap="square" lIns="45720" tIns="18288" rIns="45720" bIns="18288" anchor="t">
            <a:spAutoFit/>
          </a:bodyPr>
          <a:lstStyle/>
          <a:p>
            <a:pPr algn="l">
              <a:lnSpc>
                <a:spcPct val="115000"/>
              </a:lnSpc>
              <a:spcAft>
                <a:spcPts val="600"/>
              </a:spcAft>
            </a:pPr>
            <a:r>
              <a:rPr sz="1250" b="0">
                <a:solidFill>
                  <a:srgbClr val="3A3A3A"/>
                </a:solidFill>
                <a:latin typeface="Segoe UI"/>
              </a:rPr>
              <a:t>Un modelo de lenguaje lee el correo y propone borradores. Una persona confirma.</a:t>
            </a:r>
          </a:p>
        </p:txBody>
      </p:sp>
      <p:sp>
        <p:nvSpPr>
          <p:cNvPr id="23" name="TextBox 22"/>
          <p:cNvSpPr txBox="1"/>
          <p:nvPr/>
        </p:nvSpPr>
        <p:spPr>
          <a:xfrm>
            <a:off x="6345936" y="3447287"/>
            <a:ext cx="2286000" cy="27432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F26B1D"/>
                </a:solidFill>
                <a:latin typeface="Segoe UI"/>
              </a:rPr>
              <a:t>Construido</a:t>
            </a:r>
          </a:p>
        </p:txBody>
      </p:sp>
      <p:sp>
        <p:nvSpPr>
          <p:cNvPr id="24" name="Rectangle 23"/>
          <p:cNvSpPr/>
          <p:nvPr/>
        </p:nvSpPr>
        <p:spPr>
          <a:xfrm>
            <a:off x="8924544" y="1874519"/>
            <a:ext cx="2606040" cy="196596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8924544" y="1874519"/>
            <a:ext cx="2606040" cy="6400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07424" y="2103120"/>
            <a:ext cx="2286000" cy="64008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Proveedores</a:t>
            </a:r>
          </a:p>
        </p:txBody>
      </p:sp>
      <p:sp>
        <p:nvSpPr>
          <p:cNvPr id="27" name="TextBox 26"/>
          <p:cNvSpPr txBox="1"/>
          <p:nvPr/>
        </p:nvSpPr>
        <p:spPr>
          <a:xfrm>
            <a:off x="9107424" y="2743200"/>
            <a:ext cx="2286000" cy="914400"/>
          </a:xfrm>
          <a:prstGeom prst="rect">
            <a:avLst/>
          </a:prstGeom>
          <a:noFill/>
        </p:spPr>
        <p:txBody>
          <a:bodyPr wrap="square" lIns="45720" tIns="18288" rIns="45720" bIns="18288" anchor="t">
            <a:spAutoFit/>
          </a:bodyPr>
          <a:lstStyle/>
          <a:p>
            <a:pPr algn="l">
              <a:lnSpc>
                <a:spcPct val="115000"/>
              </a:lnSpc>
              <a:spcAft>
                <a:spcPts val="600"/>
              </a:spcAft>
            </a:pPr>
            <a:r>
              <a:rPr sz="1250" b="0">
                <a:solidFill>
                  <a:srgbClr val="3A3A3A"/>
                </a:solidFill>
                <a:latin typeface="Segoe UI"/>
              </a:rPr>
              <a:t>Padrón, cola de correos, altas, bajas y reactivaciones.</a:t>
            </a:r>
          </a:p>
        </p:txBody>
      </p:sp>
      <p:sp>
        <p:nvSpPr>
          <p:cNvPr id="28" name="TextBox 27"/>
          <p:cNvSpPr txBox="1"/>
          <p:nvPr/>
        </p:nvSpPr>
        <p:spPr>
          <a:xfrm>
            <a:off x="9107424" y="3447287"/>
            <a:ext cx="2286000" cy="27432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F26B1D"/>
                </a:solidFill>
                <a:latin typeface="Segoe UI"/>
              </a:rPr>
              <a:t>Construido</a:t>
            </a:r>
          </a:p>
        </p:txBody>
      </p:sp>
      <p:sp>
        <p:nvSpPr>
          <p:cNvPr id="29" name="Rectangle 28"/>
          <p:cNvSpPr/>
          <p:nvPr/>
        </p:nvSpPr>
        <p:spPr>
          <a:xfrm>
            <a:off x="640080" y="4023360"/>
            <a:ext cx="2606040" cy="196596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0080" y="4023360"/>
            <a:ext cx="2606040" cy="6400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22959" y="4251960"/>
            <a:ext cx="2286000" cy="64008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Cuentas y roles</a:t>
            </a:r>
          </a:p>
        </p:txBody>
      </p:sp>
      <p:sp>
        <p:nvSpPr>
          <p:cNvPr id="32" name="TextBox 31"/>
          <p:cNvSpPr txBox="1"/>
          <p:nvPr/>
        </p:nvSpPr>
        <p:spPr>
          <a:xfrm>
            <a:off x="822959" y="4892040"/>
            <a:ext cx="2286000" cy="914400"/>
          </a:xfrm>
          <a:prstGeom prst="rect">
            <a:avLst/>
          </a:prstGeom>
          <a:noFill/>
        </p:spPr>
        <p:txBody>
          <a:bodyPr wrap="square" lIns="45720" tIns="18288" rIns="45720" bIns="18288" anchor="t">
            <a:spAutoFit/>
          </a:bodyPr>
          <a:lstStyle/>
          <a:p>
            <a:pPr algn="l">
              <a:lnSpc>
                <a:spcPct val="115000"/>
              </a:lnSpc>
              <a:spcAft>
                <a:spcPts val="600"/>
              </a:spcAft>
            </a:pPr>
            <a:r>
              <a:rPr sz="1250" b="0">
                <a:solidFill>
                  <a:srgbClr val="3A3A3A"/>
                </a:solidFill>
                <a:latin typeface="Segoe UI"/>
              </a:rPr>
              <a:t>Usuarios del personal y clientes. Acceso controlado en el servidor.</a:t>
            </a:r>
          </a:p>
        </p:txBody>
      </p:sp>
      <p:sp>
        <p:nvSpPr>
          <p:cNvPr id="33" name="TextBox 32"/>
          <p:cNvSpPr txBox="1"/>
          <p:nvPr/>
        </p:nvSpPr>
        <p:spPr>
          <a:xfrm>
            <a:off x="822959" y="5596128"/>
            <a:ext cx="2286000" cy="27432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F26B1D"/>
                </a:solidFill>
                <a:latin typeface="Segoe UI"/>
              </a:rPr>
              <a:t>Construido</a:t>
            </a:r>
          </a:p>
        </p:txBody>
      </p:sp>
      <p:sp>
        <p:nvSpPr>
          <p:cNvPr id="34" name="Rectangle 33"/>
          <p:cNvSpPr/>
          <p:nvPr/>
        </p:nvSpPr>
        <p:spPr>
          <a:xfrm>
            <a:off x="3401568" y="4023360"/>
            <a:ext cx="2606040" cy="1965960"/>
          </a:xfrm>
          <a:prstGeom prst="rect">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401568" y="4023360"/>
            <a:ext cx="2606040" cy="6400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3584448" y="4251960"/>
            <a:ext cx="2286000" cy="64008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Auditoría</a:t>
            </a:r>
          </a:p>
        </p:txBody>
      </p:sp>
      <p:sp>
        <p:nvSpPr>
          <p:cNvPr id="37" name="TextBox 36"/>
          <p:cNvSpPr txBox="1"/>
          <p:nvPr/>
        </p:nvSpPr>
        <p:spPr>
          <a:xfrm>
            <a:off x="3584448" y="4892040"/>
            <a:ext cx="2286000" cy="914400"/>
          </a:xfrm>
          <a:prstGeom prst="rect">
            <a:avLst/>
          </a:prstGeom>
          <a:noFill/>
        </p:spPr>
        <p:txBody>
          <a:bodyPr wrap="square" lIns="45720" tIns="18288" rIns="45720" bIns="18288" anchor="t">
            <a:spAutoFit/>
          </a:bodyPr>
          <a:lstStyle/>
          <a:p>
            <a:pPr algn="l">
              <a:lnSpc>
                <a:spcPct val="115000"/>
              </a:lnSpc>
              <a:spcAft>
                <a:spcPts val="600"/>
              </a:spcAft>
            </a:pPr>
            <a:r>
              <a:rPr sz="1250" b="0">
                <a:solidFill>
                  <a:srgbClr val="3A3A3A"/>
                </a:solidFill>
                <a:latin typeface="Segoe UI"/>
              </a:rPr>
              <a:t>Registro de cada operación, que no se puede modificar ni borrar.</a:t>
            </a:r>
          </a:p>
        </p:txBody>
      </p:sp>
      <p:sp>
        <p:nvSpPr>
          <p:cNvPr id="38" name="TextBox 37"/>
          <p:cNvSpPr txBox="1"/>
          <p:nvPr/>
        </p:nvSpPr>
        <p:spPr>
          <a:xfrm>
            <a:off x="3584448" y="5596128"/>
            <a:ext cx="2286000" cy="27432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F26B1D"/>
                </a:solidFill>
                <a:latin typeface="Segoe UI"/>
              </a:rPr>
              <a:t>Construido</a:t>
            </a:r>
          </a:p>
        </p:txBody>
      </p:sp>
      <p:sp>
        <p:nvSpPr>
          <p:cNvPr id="39" name="Rectangle 38"/>
          <p:cNvSpPr/>
          <p:nvPr/>
        </p:nvSpPr>
        <p:spPr>
          <a:xfrm>
            <a:off x="6163056" y="4023360"/>
            <a:ext cx="2606040" cy="1965960"/>
          </a:xfrm>
          <a:prstGeom prst="rect">
            <a:avLst/>
          </a:prstGeom>
          <a:solidFill>
            <a:srgbClr val="F3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6163056" y="4023360"/>
            <a:ext cx="2606040" cy="64008"/>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345936" y="4251960"/>
            <a:ext cx="2286000" cy="64008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Tienda y pedidos</a:t>
            </a:r>
          </a:p>
        </p:txBody>
      </p:sp>
      <p:sp>
        <p:nvSpPr>
          <p:cNvPr id="42" name="TextBox 41"/>
          <p:cNvSpPr txBox="1"/>
          <p:nvPr/>
        </p:nvSpPr>
        <p:spPr>
          <a:xfrm>
            <a:off x="6345936" y="4892040"/>
            <a:ext cx="2286000" cy="914400"/>
          </a:xfrm>
          <a:prstGeom prst="rect">
            <a:avLst/>
          </a:prstGeom>
          <a:noFill/>
        </p:spPr>
        <p:txBody>
          <a:bodyPr wrap="square" lIns="45720" tIns="18288" rIns="45720" bIns="18288" anchor="t">
            <a:spAutoFit/>
          </a:bodyPr>
          <a:lstStyle/>
          <a:p>
            <a:pPr algn="l">
              <a:lnSpc>
                <a:spcPct val="115000"/>
              </a:lnSpc>
              <a:spcAft>
                <a:spcPts val="600"/>
              </a:spcAft>
            </a:pPr>
            <a:r>
              <a:rPr sz="1250" b="0">
                <a:solidFill>
                  <a:srgbClr val="3A3A3A"/>
                </a:solidFill>
                <a:latin typeface="Segoe UI"/>
              </a:rPr>
              <a:t>Catálogo público, carrito, compra y seguimiento.</a:t>
            </a:r>
          </a:p>
        </p:txBody>
      </p:sp>
      <p:sp>
        <p:nvSpPr>
          <p:cNvPr id="43" name="TextBox 42"/>
          <p:cNvSpPr txBox="1"/>
          <p:nvPr/>
        </p:nvSpPr>
        <p:spPr>
          <a:xfrm>
            <a:off x="6345936" y="5596128"/>
            <a:ext cx="2286000" cy="27432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6E6E6E"/>
                </a:solidFill>
                <a:latin typeface="Segoe UI"/>
              </a:rPr>
              <a:t>Próxima etapa</a:t>
            </a:r>
          </a:p>
        </p:txBody>
      </p:sp>
      <p:sp>
        <p:nvSpPr>
          <p:cNvPr id="44" name="Rectangle 43"/>
          <p:cNvSpPr/>
          <p:nvPr/>
        </p:nvSpPr>
        <p:spPr>
          <a:xfrm>
            <a:off x="8924544" y="4023360"/>
            <a:ext cx="2606040" cy="1965960"/>
          </a:xfrm>
          <a:prstGeom prst="rect">
            <a:avLst/>
          </a:prstGeom>
          <a:solidFill>
            <a:srgbClr val="F3F3F3"/>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924544" y="4023360"/>
            <a:ext cx="2606040" cy="64008"/>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107424" y="4251960"/>
            <a:ext cx="2286000" cy="64008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Caja, puntos y devoluciones</a:t>
            </a:r>
          </a:p>
        </p:txBody>
      </p:sp>
      <p:sp>
        <p:nvSpPr>
          <p:cNvPr id="47" name="TextBox 46"/>
          <p:cNvSpPr txBox="1"/>
          <p:nvPr/>
        </p:nvSpPr>
        <p:spPr>
          <a:xfrm>
            <a:off x="9107424" y="4892040"/>
            <a:ext cx="2286000" cy="914400"/>
          </a:xfrm>
          <a:prstGeom prst="rect">
            <a:avLst/>
          </a:prstGeom>
          <a:noFill/>
        </p:spPr>
        <p:txBody>
          <a:bodyPr wrap="square" lIns="45720" tIns="18288" rIns="45720" bIns="18288" anchor="t">
            <a:spAutoFit/>
          </a:bodyPr>
          <a:lstStyle/>
          <a:p>
            <a:pPr algn="l">
              <a:lnSpc>
                <a:spcPct val="115000"/>
              </a:lnSpc>
              <a:spcAft>
                <a:spcPts val="600"/>
              </a:spcAft>
            </a:pPr>
            <a:r>
              <a:rPr sz="1250" b="0">
                <a:solidFill>
                  <a:srgbClr val="3A3A3A"/>
                </a:solidFill>
                <a:latin typeface="Segoe UI"/>
              </a:rPr>
              <a:t>Ventas en el local, fidelización y reclamos.</a:t>
            </a:r>
          </a:p>
        </p:txBody>
      </p:sp>
      <p:sp>
        <p:nvSpPr>
          <p:cNvPr id="48" name="TextBox 47"/>
          <p:cNvSpPr txBox="1"/>
          <p:nvPr/>
        </p:nvSpPr>
        <p:spPr>
          <a:xfrm>
            <a:off x="9107424" y="5596128"/>
            <a:ext cx="2286000" cy="27432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6E6E6E"/>
                </a:solidFill>
                <a:latin typeface="Segoe UI"/>
              </a:rPr>
              <a:t>Próxima etapa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36576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F26B1D"/>
                </a:solidFill>
                <a:latin typeface="Segoe UI"/>
              </a:rPr>
              <a:t>CÓMO SE CONSTRUYE</a:t>
            </a:r>
          </a:p>
        </p:txBody>
      </p:sp>
      <p:sp>
        <p:nvSpPr>
          <p:cNvPr id="4" name="TextBox 3"/>
          <p:cNvSpPr txBox="1"/>
          <p:nvPr/>
        </p:nvSpPr>
        <p:spPr>
          <a:xfrm>
            <a:off x="640080" y="731520"/>
            <a:ext cx="10789920" cy="822960"/>
          </a:xfrm>
          <a:prstGeom prst="rect">
            <a:avLst/>
          </a:prstGeom>
          <a:noFill/>
        </p:spPr>
        <p:txBody>
          <a:bodyPr wrap="square" lIns="45720" tIns="18288" rIns="45720" bIns="18288" anchor="t">
            <a:spAutoFit/>
          </a:bodyPr>
          <a:lstStyle/>
          <a:p>
            <a:pPr algn="l">
              <a:lnSpc>
                <a:spcPct val="115000"/>
              </a:lnSpc>
              <a:spcAft>
                <a:spcPts val="600"/>
              </a:spcAft>
            </a:pPr>
            <a:r>
              <a:rPr sz="3400" b="0">
                <a:solidFill>
                  <a:srgbClr val="111111"/>
                </a:solidFill>
                <a:latin typeface="Segoe UI Semibold"/>
              </a:rPr>
              <a:t>El documento y el código dicen lo mismo</a:t>
            </a:r>
          </a:p>
        </p:txBody>
      </p:sp>
      <p:sp>
        <p:nvSpPr>
          <p:cNvPr id="5" name="Rectangle 4"/>
          <p:cNvSpPr/>
          <p:nvPr/>
        </p:nvSpPr>
        <p:spPr>
          <a:xfrm>
            <a:off x="640080" y="1572768"/>
            <a:ext cx="108813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355080"/>
            <a:ext cx="108813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00800"/>
            <a:ext cx="5486400" cy="320040"/>
          </a:xfrm>
          <a:prstGeom prst="rect">
            <a:avLst/>
          </a:prstGeom>
          <a:noFill/>
        </p:spPr>
        <p:txBody>
          <a:bodyPr wrap="square" lIns="45720" tIns="18288" rIns="45720" bIns="18288" anchor="t">
            <a:spAutoFit/>
          </a:bodyPr>
          <a:lstStyle/>
          <a:p>
            <a:pPr algn="l">
              <a:lnSpc>
                <a:spcPct val="115000"/>
              </a:lnSpc>
              <a:spcAft>
                <a:spcPts val="600"/>
              </a:spcAft>
            </a:pPr>
            <a:r>
              <a:rPr sz="1000" b="0">
                <a:solidFill>
                  <a:srgbClr val="6E6E6E"/>
                </a:solidFill>
                <a:latin typeface="Segoe UI"/>
              </a:rPr>
              <a:t>Longbox · Trabajo final de grado</a:t>
            </a:r>
          </a:p>
        </p:txBody>
      </p:sp>
      <p:sp>
        <p:nvSpPr>
          <p:cNvPr id="8" name="TextBox 7"/>
          <p:cNvSpPr txBox="1"/>
          <p:nvPr/>
        </p:nvSpPr>
        <p:spPr>
          <a:xfrm>
            <a:off x="6949440" y="6400800"/>
            <a:ext cx="4572000" cy="320040"/>
          </a:xfrm>
          <a:prstGeom prst="rect">
            <a:avLst/>
          </a:prstGeom>
          <a:noFill/>
        </p:spPr>
        <p:txBody>
          <a:bodyPr wrap="square" lIns="45720" tIns="18288" rIns="45720" bIns="18288" anchor="t">
            <a:spAutoFit/>
          </a:bodyPr>
          <a:lstStyle/>
          <a:p>
            <a:pPr algn="r">
              <a:lnSpc>
                <a:spcPct val="115000"/>
              </a:lnSpc>
              <a:spcAft>
                <a:spcPts val="600"/>
              </a:spcAft>
            </a:pPr>
            <a:r>
              <a:rPr sz="1000" b="0">
                <a:solidFill>
                  <a:srgbClr val="6E6E6E"/>
                </a:solidFill>
                <a:latin typeface="Segoe UI"/>
              </a:rPr>
              <a:t>Presentación · 1:45   ·   4 / 10</a:t>
            </a:r>
          </a:p>
        </p:txBody>
      </p:sp>
      <p:sp>
        <p:nvSpPr>
          <p:cNvPr id="9" name="Rectangle 8"/>
          <p:cNvSpPr/>
          <p:nvPr/>
        </p:nvSpPr>
        <p:spPr>
          <a:xfrm>
            <a:off x="640080" y="1965960"/>
            <a:ext cx="2377440" cy="14173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59" y="2103120"/>
            <a:ext cx="2103120" cy="457200"/>
          </a:xfrm>
          <a:prstGeom prst="rect">
            <a:avLst/>
          </a:prstGeom>
          <a:noFill/>
        </p:spPr>
        <p:txBody>
          <a:bodyPr wrap="square" lIns="45720" tIns="18288" rIns="45720" bIns="18288" anchor="t">
            <a:spAutoFit/>
          </a:bodyPr>
          <a:lstStyle/>
          <a:p>
            <a:pPr algn="l">
              <a:lnSpc>
                <a:spcPct val="115000"/>
              </a:lnSpc>
              <a:spcAft>
                <a:spcPts val="600"/>
              </a:spcAft>
            </a:pPr>
            <a:r>
              <a:rPr sz="1900" b="1">
                <a:solidFill>
                  <a:srgbClr val="FFFFFF"/>
                </a:solidFill>
                <a:latin typeface="Segoe UI"/>
              </a:rPr>
              <a:t>Caso de uso</a:t>
            </a:r>
          </a:p>
        </p:txBody>
      </p:sp>
      <p:sp>
        <p:nvSpPr>
          <p:cNvPr id="11" name="TextBox 10"/>
          <p:cNvSpPr txBox="1"/>
          <p:nvPr/>
        </p:nvSpPr>
        <p:spPr>
          <a:xfrm>
            <a:off x="822959" y="2560320"/>
            <a:ext cx="2057400" cy="77724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FFFFFF"/>
                </a:solidFill>
                <a:latin typeface="Segoe UI"/>
              </a:rPr>
              <a:t>Qué hace el actor, paso a paso.</a:t>
            </a:r>
          </a:p>
        </p:txBody>
      </p:sp>
      <p:cxnSp>
        <p:nvCxnSpPr>
          <p:cNvPr id="12" name="Connector 11"/>
          <p:cNvCxnSpPr/>
          <p:nvPr/>
        </p:nvCxnSpPr>
        <p:spPr>
          <a:xfrm>
            <a:off x="3063239" y="2679192"/>
            <a:ext cx="320041" cy="0"/>
          </a:xfrm>
          <a:prstGeom prst="line">
            <a:avLst/>
          </a:prstGeom>
          <a:ln w="2540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429000" y="1965960"/>
            <a:ext cx="2377440" cy="14173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11880" y="2103120"/>
            <a:ext cx="2103120" cy="457200"/>
          </a:xfrm>
          <a:prstGeom prst="rect">
            <a:avLst/>
          </a:prstGeom>
          <a:noFill/>
        </p:spPr>
        <p:txBody>
          <a:bodyPr wrap="square" lIns="45720" tIns="18288" rIns="45720" bIns="18288" anchor="t">
            <a:spAutoFit/>
          </a:bodyPr>
          <a:lstStyle/>
          <a:p>
            <a:pPr algn="l">
              <a:lnSpc>
                <a:spcPct val="115000"/>
              </a:lnSpc>
              <a:spcAft>
                <a:spcPts val="600"/>
              </a:spcAft>
            </a:pPr>
            <a:r>
              <a:rPr sz="1900" b="1">
                <a:solidFill>
                  <a:srgbClr val="FFFFFF"/>
                </a:solidFill>
                <a:latin typeface="Segoe UI"/>
              </a:rPr>
              <a:t>Contrato</a:t>
            </a:r>
          </a:p>
        </p:txBody>
      </p:sp>
      <p:sp>
        <p:nvSpPr>
          <p:cNvPr id="15" name="TextBox 14"/>
          <p:cNvSpPr txBox="1"/>
          <p:nvPr/>
        </p:nvSpPr>
        <p:spPr>
          <a:xfrm>
            <a:off x="3611880" y="2560320"/>
            <a:ext cx="2057400" cy="77724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FFFFFF"/>
                </a:solidFill>
                <a:latin typeface="Segoe UI"/>
              </a:rPr>
              <a:t>Qué cambia en el sistema con cada operación.</a:t>
            </a:r>
          </a:p>
        </p:txBody>
      </p:sp>
      <p:cxnSp>
        <p:nvCxnSpPr>
          <p:cNvPr id="16" name="Connector 15"/>
          <p:cNvCxnSpPr/>
          <p:nvPr/>
        </p:nvCxnSpPr>
        <p:spPr>
          <a:xfrm>
            <a:off x="5852160" y="2679192"/>
            <a:ext cx="320040" cy="0"/>
          </a:xfrm>
          <a:prstGeom prst="line">
            <a:avLst/>
          </a:prstGeom>
          <a:ln w="2540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6217920" y="1965960"/>
            <a:ext cx="2377440" cy="14173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2103120"/>
            <a:ext cx="2103120" cy="457200"/>
          </a:xfrm>
          <a:prstGeom prst="rect">
            <a:avLst/>
          </a:prstGeom>
          <a:noFill/>
        </p:spPr>
        <p:txBody>
          <a:bodyPr wrap="square" lIns="45720" tIns="18288" rIns="45720" bIns="18288" anchor="t">
            <a:spAutoFit/>
          </a:bodyPr>
          <a:lstStyle/>
          <a:p>
            <a:pPr algn="l">
              <a:lnSpc>
                <a:spcPct val="115000"/>
              </a:lnSpc>
              <a:spcAft>
                <a:spcPts val="600"/>
              </a:spcAft>
            </a:pPr>
            <a:r>
              <a:rPr sz="1900" b="1">
                <a:solidFill>
                  <a:srgbClr val="FFFFFF"/>
                </a:solidFill>
                <a:latin typeface="Segoe UI"/>
              </a:rPr>
              <a:t>Prueba</a:t>
            </a:r>
          </a:p>
        </p:txBody>
      </p:sp>
      <p:sp>
        <p:nvSpPr>
          <p:cNvPr id="19" name="TextBox 18"/>
          <p:cNvSpPr txBox="1"/>
          <p:nvPr/>
        </p:nvSpPr>
        <p:spPr>
          <a:xfrm>
            <a:off x="6400800" y="2560320"/>
            <a:ext cx="2057400" cy="77724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FFFFFF"/>
                </a:solidFill>
                <a:latin typeface="Segoe UI"/>
              </a:rPr>
              <a:t>Lleva el código del contrato en su nombre.</a:t>
            </a:r>
          </a:p>
        </p:txBody>
      </p:sp>
      <p:cxnSp>
        <p:nvCxnSpPr>
          <p:cNvPr id="20" name="Connector 19"/>
          <p:cNvCxnSpPr/>
          <p:nvPr/>
        </p:nvCxnSpPr>
        <p:spPr>
          <a:xfrm>
            <a:off x="8641080" y="2679192"/>
            <a:ext cx="320040" cy="0"/>
          </a:xfrm>
          <a:prstGeom prst="line">
            <a:avLst/>
          </a:prstGeom>
          <a:ln w="25400">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9006839" y="1965960"/>
            <a:ext cx="2377440" cy="141732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89719" y="2103120"/>
            <a:ext cx="2103120" cy="457200"/>
          </a:xfrm>
          <a:prstGeom prst="rect">
            <a:avLst/>
          </a:prstGeom>
          <a:noFill/>
        </p:spPr>
        <p:txBody>
          <a:bodyPr wrap="square" lIns="45720" tIns="18288" rIns="45720" bIns="18288" anchor="t">
            <a:spAutoFit/>
          </a:bodyPr>
          <a:lstStyle/>
          <a:p>
            <a:pPr algn="l">
              <a:lnSpc>
                <a:spcPct val="115000"/>
              </a:lnSpc>
              <a:spcAft>
                <a:spcPts val="600"/>
              </a:spcAft>
            </a:pPr>
            <a:r>
              <a:rPr sz="1900" b="1">
                <a:solidFill>
                  <a:srgbClr val="FFFFFF"/>
                </a:solidFill>
                <a:latin typeface="Segoe UI"/>
              </a:rPr>
              <a:t>Verificado</a:t>
            </a:r>
          </a:p>
        </p:txBody>
      </p:sp>
      <p:sp>
        <p:nvSpPr>
          <p:cNvPr id="23" name="TextBox 22"/>
          <p:cNvSpPr txBox="1"/>
          <p:nvPr/>
        </p:nvSpPr>
        <p:spPr>
          <a:xfrm>
            <a:off x="9189719" y="2560320"/>
            <a:ext cx="2057400" cy="77724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FFFFFF"/>
                </a:solidFill>
                <a:latin typeface="Segoe UI"/>
              </a:rPr>
              <a:t>Pasa las siete verificaciones.</a:t>
            </a:r>
          </a:p>
        </p:txBody>
      </p:sp>
      <p:sp>
        <p:nvSpPr>
          <p:cNvPr id="24" name="TextBox 23"/>
          <p:cNvSpPr txBox="1"/>
          <p:nvPr/>
        </p:nvSpPr>
        <p:spPr>
          <a:xfrm>
            <a:off x="640080" y="3749039"/>
            <a:ext cx="10058400" cy="365760"/>
          </a:xfrm>
          <a:prstGeom prst="rect">
            <a:avLst/>
          </a:prstGeom>
          <a:noFill/>
        </p:spPr>
        <p:txBody>
          <a:bodyPr wrap="square" lIns="45720" tIns="18288" rIns="45720" bIns="18288" anchor="t">
            <a:spAutoFit/>
          </a:bodyPr>
          <a:lstStyle/>
          <a:p>
            <a:pPr algn="l">
              <a:lnSpc>
                <a:spcPct val="115000"/>
              </a:lnSpc>
              <a:spcAft>
                <a:spcPts val="600"/>
              </a:spcAft>
            </a:pPr>
            <a:r>
              <a:rPr sz="1800" b="1">
                <a:solidFill>
                  <a:srgbClr val="111111"/>
                </a:solidFill>
                <a:latin typeface="Segoe UI"/>
              </a:rPr>
              <a:t>Las siete verificaciones</a:t>
            </a:r>
          </a:p>
        </p:txBody>
      </p:sp>
      <p:sp>
        <p:nvSpPr>
          <p:cNvPr id="25" name="Rectangle 24"/>
          <p:cNvSpPr/>
          <p:nvPr/>
        </p:nvSpPr>
        <p:spPr>
          <a:xfrm>
            <a:off x="640080" y="4297679"/>
            <a:ext cx="201168" cy="201168"/>
          </a:xfrm>
          <a:prstGeom prst="rect">
            <a:avLst/>
          </a:prstGeom>
          <a:noFill/>
          <a:ln w="1905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5840" y="4206240"/>
            <a:ext cx="4937760" cy="411480"/>
          </a:xfrm>
          <a:prstGeom prst="rect">
            <a:avLst/>
          </a:prstGeom>
          <a:noFill/>
        </p:spPr>
        <p:txBody>
          <a:bodyPr wrap="square" lIns="45720" tIns="18288" rIns="45720" bIns="18288" anchor="t">
            <a:spAutoFit/>
          </a:bodyPr>
          <a:lstStyle/>
          <a:p>
            <a:pPr algn="l">
              <a:lnSpc>
                <a:spcPct val="115000"/>
              </a:lnSpc>
              <a:spcAft>
                <a:spcPts val="600"/>
              </a:spcAft>
            </a:pPr>
            <a:r>
              <a:rPr sz="1500" b="0">
                <a:solidFill>
                  <a:srgbClr val="3A3A3A"/>
                </a:solidFill>
                <a:latin typeface="Segoe UI"/>
              </a:rPr>
              <a:t>Todas las pruebas pasan</a:t>
            </a:r>
          </a:p>
        </p:txBody>
      </p:sp>
      <p:sp>
        <p:nvSpPr>
          <p:cNvPr id="27" name="Rectangle 26"/>
          <p:cNvSpPr/>
          <p:nvPr/>
        </p:nvSpPr>
        <p:spPr>
          <a:xfrm>
            <a:off x="640080" y="4800599"/>
            <a:ext cx="201168" cy="201168"/>
          </a:xfrm>
          <a:prstGeom prst="rect">
            <a:avLst/>
          </a:prstGeom>
          <a:noFill/>
          <a:ln w="1905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05840" y="4709159"/>
            <a:ext cx="4937760" cy="411480"/>
          </a:xfrm>
          <a:prstGeom prst="rect">
            <a:avLst/>
          </a:prstGeom>
          <a:noFill/>
        </p:spPr>
        <p:txBody>
          <a:bodyPr wrap="square" lIns="45720" tIns="18288" rIns="45720" bIns="18288" anchor="t">
            <a:spAutoFit/>
          </a:bodyPr>
          <a:lstStyle/>
          <a:p>
            <a:pPr algn="l">
              <a:lnSpc>
                <a:spcPct val="115000"/>
              </a:lnSpc>
              <a:spcAft>
                <a:spcPts val="600"/>
              </a:spcAft>
            </a:pPr>
            <a:r>
              <a:rPr sz="1500" b="0">
                <a:solidFill>
                  <a:srgbClr val="3A3A3A"/>
                </a:solidFill>
                <a:latin typeface="Segoe UI"/>
              </a:rPr>
              <a:t>Cada operación tiene su prueba de contrato</a:t>
            </a:r>
          </a:p>
        </p:txBody>
      </p:sp>
      <p:sp>
        <p:nvSpPr>
          <p:cNvPr id="29" name="Rectangle 28"/>
          <p:cNvSpPr/>
          <p:nvPr/>
        </p:nvSpPr>
        <p:spPr>
          <a:xfrm>
            <a:off x="640080" y="5303519"/>
            <a:ext cx="201168" cy="201168"/>
          </a:xfrm>
          <a:prstGeom prst="rect">
            <a:avLst/>
          </a:prstGeom>
          <a:noFill/>
          <a:ln w="1905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05840" y="5212079"/>
            <a:ext cx="4937760" cy="411480"/>
          </a:xfrm>
          <a:prstGeom prst="rect">
            <a:avLst/>
          </a:prstGeom>
          <a:noFill/>
        </p:spPr>
        <p:txBody>
          <a:bodyPr wrap="square" lIns="45720" tIns="18288" rIns="45720" bIns="18288" anchor="t">
            <a:spAutoFit/>
          </a:bodyPr>
          <a:lstStyle/>
          <a:p>
            <a:pPr algn="l">
              <a:lnSpc>
                <a:spcPct val="115000"/>
              </a:lnSpc>
              <a:spcAft>
                <a:spcPts val="600"/>
              </a:spcAft>
            </a:pPr>
            <a:r>
              <a:rPr sz="1500" b="0">
                <a:solidFill>
                  <a:srgbClr val="3A3A3A"/>
                </a:solidFill>
                <a:latin typeface="Segoe UI"/>
              </a:rPr>
              <a:t>Cobertura del código de al menos 80 %</a:t>
            </a:r>
          </a:p>
        </p:txBody>
      </p:sp>
      <p:sp>
        <p:nvSpPr>
          <p:cNvPr id="31" name="Rectangle 30"/>
          <p:cNvSpPr/>
          <p:nvPr/>
        </p:nvSpPr>
        <p:spPr>
          <a:xfrm>
            <a:off x="640080" y="5806440"/>
            <a:ext cx="201168" cy="201168"/>
          </a:xfrm>
          <a:prstGeom prst="rect">
            <a:avLst/>
          </a:prstGeom>
          <a:noFill/>
          <a:ln w="1905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05840" y="5715000"/>
            <a:ext cx="4937760" cy="411480"/>
          </a:xfrm>
          <a:prstGeom prst="rect">
            <a:avLst/>
          </a:prstGeom>
          <a:noFill/>
        </p:spPr>
        <p:txBody>
          <a:bodyPr wrap="square" lIns="45720" tIns="18288" rIns="45720" bIns="18288" anchor="t">
            <a:spAutoFit/>
          </a:bodyPr>
          <a:lstStyle/>
          <a:p>
            <a:pPr algn="l">
              <a:lnSpc>
                <a:spcPct val="115000"/>
              </a:lnSpc>
              <a:spcAft>
                <a:spcPts val="600"/>
              </a:spcAft>
            </a:pPr>
            <a:r>
              <a:rPr sz="1500" b="0">
                <a:solidFill>
                  <a:srgbClr val="3A3A3A"/>
                </a:solidFill>
                <a:latin typeface="Segoe UI"/>
              </a:rPr>
              <a:t>Análisis estático sin hallazgos</a:t>
            </a:r>
          </a:p>
        </p:txBody>
      </p:sp>
      <p:sp>
        <p:nvSpPr>
          <p:cNvPr id="33" name="Rectangle 32"/>
          <p:cNvSpPr/>
          <p:nvPr/>
        </p:nvSpPr>
        <p:spPr>
          <a:xfrm>
            <a:off x="6126480" y="4297679"/>
            <a:ext cx="201168" cy="201168"/>
          </a:xfrm>
          <a:prstGeom prst="rect">
            <a:avLst/>
          </a:prstGeom>
          <a:noFill/>
          <a:ln w="1905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92240" y="4206240"/>
            <a:ext cx="4937760" cy="411480"/>
          </a:xfrm>
          <a:prstGeom prst="rect">
            <a:avLst/>
          </a:prstGeom>
          <a:noFill/>
        </p:spPr>
        <p:txBody>
          <a:bodyPr wrap="square" lIns="45720" tIns="18288" rIns="45720" bIns="18288" anchor="t">
            <a:spAutoFit/>
          </a:bodyPr>
          <a:lstStyle/>
          <a:p>
            <a:pPr algn="l">
              <a:lnSpc>
                <a:spcPct val="115000"/>
              </a:lnSpc>
              <a:spcAft>
                <a:spcPts val="600"/>
              </a:spcAft>
            </a:pPr>
            <a:r>
              <a:rPr sz="1500" b="0">
                <a:solidFill>
                  <a:srgbClr val="3A3A3A"/>
                </a:solidFill>
                <a:latin typeface="Segoe UI"/>
              </a:rPr>
              <a:t>Formato uniforme</a:t>
            </a:r>
          </a:p>
        </p:txBody>
      </p:sp>
      <p:sp>
        <p:nvSpPr>
          <p:cNvPr id="35" name="Rectangle 34"/>
          <p:cNvSpPr/>
          <p:nvPr/>
        </p:nvSpPr>
        <p:spPr>
          <a:xfrm>
            <a:off x="6126480" y="4800599"/>
            <a:ext cx="201168" cy="201168"/>
          </a:xfrm>
          <a:prstGeom prst="rect">
            <a:avLst/>
          </a:prstGeom>
          <a:noFill/>
          <a:ln w="1905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92240" y="4709159"/>
            <a:ext cx="4937760" cy="411480"/>
          </a:xfrm>
          <a:prstGeom prst="rect">
            <a:avLst/>
          </a:prstGeom>
          <a:noFill/>
        </p:spPr>
        <p:txBody>
          <a:bodyPr wrap="square" lIns="45720" tIns="18288" rIns="45720" bIns="18288" anchor="t">
            <a:spAutoFit/>
          </a:bodyPr>
          <a:lstStyle/>
          <a:p>
            <a:pPr algn="l">
              <a:lnSpc>
                <a:spcPct val="115000"/>
              </a:lnSpc>
              <a:spcAft>
                <a:spcPts val="600"/>
              </a:spcAft>
            </a:pPr>
            <a:r>
              <a:rPr sz="1500" b="0">
                <a:solidFill>
                  <a:srgbClr val="3A3A3A"/>
                </a:solidFill>
                <a:latin typeface="Segoe UI"/>
              </a:rPr>
              <a:t>Auditoría de seguridad sin hallazgos</a:t>
            </a:r>
          </a:p>
        </p:txBody>
      </p:sp>
      <p:sp>
        <p:nvSpPr>
          <p:cNvPr id="37" name="Rectangle 36"/>
          <p:cNvSpPr/>
          <p:nvPr/>
        </p:nvSpPr>
        <p:spPr>
          <a:xfrm>
            <a:off x="6126480" y="5303519"/>
            <a:ext cx="201168" cy="201168"/>
          </a:xfrm>
          <a:prstGeom prst="rect">
            <a:avLst/>
          </a:prstGeom>
          <a:noFill/>
          <a:ln w="1905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92240" y="5212079"/>
            <a:ext cx="4937760" cy="411480"/>
          </a:xfrm>
          <a:prstGeom prst="rect">
            <a:avLst/>
          </a:prstGeom>
          <a:noFill/>
        </p:spPr>
        <p:txBody>
          <a:bodyPr wrap="square" lIns="45720" tIns="18288" rIns="45720" bIns="18288" anchor="t">
            <a:spAutoFit/>
          </a:bodyPr>
          <a:lstStyle/>
          <a:p>
            <a:pPr algn="l">
              <a:lnSpc>
                <a:spcPct val="115000"/>
              </a:lnSpc>
              <a:spcAft>
                <a:spcPts val="600"/>
              </a:spcAft>
            </a:pPr>
            <a:r>
              <a:rPr sz="1500" b="0">
                <a:solidFill>
                  <a:srgbClr val="3A3A3A"/>
                </a:solidFill>
                <a:latin typeface="Segoe UI"/>
              </a:rPr>
              <a:t>Configuración de despliegue sin advertencias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36576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F26B1D"/>
                </a:solidFill>
                <a:latin typeface="Segoe UI"/>
              </a:rPr>
              <a:t>PROCESO DE DESARROLLO</a:t>
            </a:r>
          </a:p>
        </p:txBody>
      </p:sp>
      <p:sp>
        <p:nvSpPr>
          <p:cNvPr id="4" name="TextBox 3"/>
          <p:cNvSpPr txBox="1"/>
          <p:nvPr/>
        </p:nvSpPr>
        <p:spPr>
          <a:xfrm>
            <a:off x="640080" y="731520"/>
            <a:ext cx="10789920" cy="822960"/>
          </a:xfrm>
          <a:prstGeom prst="rect">
            <a:avLst/>
          </a:prstGeom>
          <a:noFill/>
        </p:spPr>
        <p:txBody>
          <a:bodyPr wrap="square" lIns="45720" tIns="18288" rIns="45720" bIns="18288" anchor="t">
            <a:spAutoFit/>
          </a:bodyPr>
          <a:lstStyle/>
          <a:p>
            <a:pPr algn="l">
              <a:lnSpc>
                <a:spcPct val="115000"/>
              </a:lnSpc>
              <a:spcAft>
                <a:spcPts val="600"/>
              </a:spcAft>
            </a:pPr>
            <a:r>
              <a:rPr sz="3400" b="0">
                <a:solidFill>
                  <a:srgbClr val="111111"/>
                </a:solidFill>
                <a:latin typeface="Segoe UI Semibold"/>
              </a:rPr>
              <a:t>El ciclo del analista y dónde colabora la IA</a:t>
            </a:r>
          </a:p>
        </p:txBody>
      </p:sp>
      <p:sp>
        <p:nvSpPr>
          <p:cNvPr id="5" name="Rectangle 4"/>
          <p:cNvSpPr/>
          <p:nvPr/>
        </p:nvSpPr>
        <p:spPr>
          <a:xfrm>
            <a:off x="640080" y="1572768"/>
            <a:ext cx="108813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355080"/>
            <a:ext cx="108813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00800"/>
            <a:ext cx="5486400" cy="320040"/>
          </a:xfrm>
          <a:prstGeom prst="rect">
            <a:avLst/>
          </a:prstGeom>
          <a:noFill/>
        </p:spPr>
        <p:txBody>
          <a:bodyPr wrap="square" lIns="45720" tIns="18288" rIns="45720" bIns="18288" anchor="t">
            <a:spAutoFit/>
          </a:bodyPr>
          <a:lstStyle/>
          <a:p>
            <a:pPr algn="l">
              <a:lnSpc>
                <a:spcPct val="115000"/>
              </a:lnSpc>
              <a:spcAft>
                <a:spcPts val="600"/>
              </a:spcAft>
            </a:pPr>
            <a:r>
              <a:rPr sz="1000" b="0">
                <a:solidFill>
                  <a:srgbClr val="6E6E6E"/>
                </a:solidFill>
                <a:latin typeface="Segoe UI"/>
              </a:rPr>
              <a:t>Longbox · Trabajo final de grado</a:t>
            </a:r>
          </a:p>
        </p:txBody>
      </p:sp>
      <p:sp>
        <p:nvSpPr>
          <p:cNvPr id="8" name="TextBox 7"/>
          <p:cNvSpPr txBox="1"/>
          <p:nvPr/>
        </p:nvSpPr>
        <p:spPr>
          <a:xfrm>
            <a:off x="6949440" y="6400800"/>
            <a:ext cx="4572000" cy="320040"/>
          </a:xfrm>
          <a:prstGeom prst="rect">
            <a:avLst/>
          </a:prstGeom>
          <a:noFill/>
        </p:spPr>
        <p:txBody>
          <a:bodyPr wrap="square" lIns="45720" tIns="18288" rIns="45720" bIns="18288" anchor="t">
            <a:spAutoFit/>
          </a:bodyPr>
          <a:lstStyle/>
          <a:p>
            <a:pPr algn="r">
              <a:lnSpc>
                <a:spcPct val="115000"/>
              </a:lnSpc>
              <a:spcAft>
                <a:spcPts val="600"/>
              </a:spcAft>
            </a:pPr>
            <a:r>
              <a:rPr sz="1000" b="0">
                <a:solidFill>
                  <a:srgbClr val="6E6E6E"/>
                </a:solidFill>
                <a:latin typeface="Segoe UI"/>
              </a:rPr>
              <a:t>Presentación · 2:30   ·   5 / 10</a:t>
            </a:r>
          </a:p>
        </p:txBody>
      </p:sp>
      <p:cxnSp>
        <p:nvCxnSpPr>
          <p:cNvPr id="9" name="Connector 8"/>
          <p:cNvCxnSpPr/>
          <p:nvPr/>
        </p:nvCxnSpPr>
        <p:spPr>
          <a:xfrm>
            <a:off x="3554214" y="2569464"/>
            <a:ext cx="562244" cy="324612"/>
          </a:xfrm>
          <a:prstGeom prst="line">
            <a:avLst/>
          </a:prstGeom>
          <a:ln w="22225">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607432" y="3744468"/>
            <a:ext cx="0" cy="649224"/>
          </a:xfrm>
          <a:prstGeom prst="line">
            <a:avLst/>
          </a:prstGeom>
          <a:ln w="22225">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3554214" y="5244084"/>
            <a:ext cx="562244" cy="324612"/>
          </a:xfrm>
          <a:prstGeom prst="line">
            <a:avLst/>
          </a:prstGeom>
          <a:ln w="22225">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2010021" y="5244084"/>
            <a:ext cx="562244" cy="324612"/>
          </a:xfrm>
          <a:prstGeom prst="line">
            <a:avLst/>
          </a:prstGeom>
          <a:ln w="22225">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519047" y="3744468"/>
            <a:ext cx="0" cy="649224"/>
          </a:xfrm>
          <a:prstGeom prst="line">
            <a:avLst/>
          </a:prstGeom>
          <a:ln w="22225">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10021" y="2569464"/>
            <a:ext cx="562244" cy="324612"/>
          </a:xfrm>
          <a:prstGeom prst="line">
            <a:avLst/>
          </a:prstGeom>
          <a:ln w="22225">
            <a:solidFill>
              <a:srgbClr val="6E6E6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354580" y="2002536"/>
            <a:ext cx="1417320" cy="56692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354580" y="2002536"/>
            <a:ext cx="1417320" cy="566928"/>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Abstraer</a:t>
            </a:r>
          </a:p>
        </p:txBody>
      </p:sp>
      <p:sp>
        <p:nvSpPr>
          <p:cNvPr id="17" name="Rectangle 16"/>
          <p:cNvSpPr/>
          <p:nvPr/>
        </p:nvSpPr>
        <p:spPr>
          <a:xfrm>
            <a:off x="3898772" y="2894076"/>
            <a:ext cx="1417320" cy="56692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98772" y="2894076"/>
            <a:ext cx="1417320" cy="566928"/>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Razonar</a:t>
            </a:r>
          </a:p>
        </p:txBody>
      </p:sp>
      <p:sp>
        <p:nvSpPr>
          <p:cNvPr id="19" name="Rectangle 18"/>
          <p:cNvSpPr/>
          <p:nvPr/>
        </p:nvSpPr>
        <p:spPr>
          <a:xfrm>
            <a:off x="3898772" y="4677156"/>
            <a:ext cx="1417320" cy="56692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898772" y="4677156"/>
            <a:ext cx="1417320" cy="566928"/>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Diseñar</a:t>
            </a:r>
          </a:p>
        </p:txBody>
      </p:sp>
      <p:sp>
        <p:nvSpPr>
          <p:cNvPr id="21" name="Rectangle 20"/>
          <p:cNvSpPr/>
          <p:nvPr/>
        </p:nvSpPr>
        <p:spPr>
          <a:xfrm>
            <a:off x="2354580" y="5568696"/>
            <a:ext cx="1417320" cy="56692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354580" y="5568696"/>
            <a:ext cx="1417320" cy="566928"/>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Elaborar</a:t>
            </a:r>
          </a:p>
        </p:txBody>
      </p:sp>
      <p:sp>
        <p:nvSpPr>
          <p:cNvPr id="23" name="Rectangle 22"/>
          <p:cNvSpPr/>
          <p:nvPr/>
        </p:nvSpPr>
        <p:spPr>
          <a:xfrm>
            <a:off x="810387" y="4677156"/>
            <a:ext cx="1417320" cy="56692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10387" y="4677156"/>
            <a:ext cx="1417320" cy="566928"/>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Evaluar</a:t>
            </a:r>
          </a:p>
        </p:txBody>
      </p:sp>
      <p:sp>
        <p:nvSpPr>
          <p:cNvPr id="25" name="Rectangle 24"/>
          <p:cNvSpPr/>
          <p:nvPr/>
        </p:nvSpPr>
        <p:spPr>
          <a:xfrm>
            <a:off x="810387" y="2894076"/>
            <a:ext cx="1417320" cy="56692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0387" y="2894076"/>
            <a:ext cx="1417320" cy="566928"/>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Corregir</a:t>
            </a:r>
          </a:p>
        </p:txBody>
      </p:sp>
      <p:sp>
        <p:nvSpPr>
          <p:cNvPr id="27" name="TextBox 26"/>
          <p:cNvSpPr txBox="1"/>
          <p:nvPr/>
        </p:nvSpPr>
        <p:spPr>
          <a:xfrm>
            <a:off x="1965960" y="3657600"/>
            <a:ext cx="2194560" cy="822960"/>
          </a:xfrm>
          <a:prstGeom prst="rect">
            <a:avLst/>
          </a:prstGeom>
          <a:noFill/>
        </p:spPr>
        <p:txBody>
          <a:bodyPr wrap="square" lIns="45720" tIns="18288" rIns="45720" bIns="18288" anchor="ctr">
            <a:spAutoFit/>
          </a:bodyPr>
          <a:lstStyle/>
          <a:p>
            <a:pPr algn="ctr">
              <a:lnSpc>
                <a:spcPct val="115000"/>
              </a:lnSpc>
              <a:spcAft>
                <a:spcPts val="200"/>
              </a:spcAft>
            </a:pPr>
            <a:r>
              <a:rPr sz="1400" b="1">
                <a:solidFill>
                  <a:srgbClr val="F26B1D"/>
                </a:solidFill>
                <a:latin typeface="Segoe UI"/>
              </a:rPr>
              <a:t>La IA propone.</a:t>
            </a:r>
          </a:p>
          <a:p>
            <a:pPr algn="ctr">
              <a:lnSpc>
                <a:spcPct val="115000"/>
              </a:lnSpc>
              <a:spcAft>
                <a:spcPts val="600"/>
              </a:spcAft>
            </a:pPr>
            <a:r>
              <a:rPr sz="1400" b="1">
                <a:solidFill>
                  <a:srgbClr val="111111"/>
                </a:solidFill>
                <a:latin typeface="Segoe UI"/>
              </a:rPr>
              <a:t>El analista decide.</a:t>
            </a:r>
          </a:p>
        </p:txBody>
      </p:sp>
      <p:sp>
        <p:nvSpPr>
          <p:cNvPr id="28" name="TextBox 27"/>
          <p:cNvSpPr txBox="1"/>
          <p:nvPr/>
        </p:nvSpPr>
        <p:spPr>
          <a:xfrm>
            <a:off x="1874519" y="4572000"/>
            <a:ext cx="2377440" cy="365760"/>
          </a:xfrm>
          <a:prstGeom prst="rect">
            <a:avLst/>
          </a:prstGeom>
          <a:noFill/>
        </p:spPr>
        <p:txBody>
          <a:bodyPr wrap="square" lIns="45720" tIns="18288" rIns="45720" bIns="18288" anchor="t">
            <a:spAutoFit/>
          </a:bodyPr>
          <a:lstStyle/>
          <a:p>
            <a:pPr algn="ctr">
              <a:lnSpc>
                <a:spcPct val="115000"/>
              </a:lnSpc>
              <a:spcAft>
                <a:spcPts val="600"/>
              </a:spcAft>
            </a:pPr>
            <a:r>
              <a:rPr sz="1100" b="0">
                <a:solidFill>
                  <a:srgbClr val="6E6E6E"/>
                </a:solidFill>
                <a:latin typeface="Segoe UI"/>
              </a:rPr>
              <a:t>Ciclo continuo</a:t>
            </a:r>
          </a:p>
        </p:txBody>
      </p:sp>
      <p:sp>
        <p:nvSpPr>
          <p:cNvPr id="29" name="TextBox 28"/>
          <p:cNvSpPr txBox="1"/>
          <p:nvPr/>
        </p:nvSpPr>
        <p:spPr>
          <a:xfrm>
            <a:off x="5989320" y="1783080"/>
            <a:ext cx="1234440" cy="32004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6E6E6E"/>
                </a:solidFill>
                <a:latin typeface="Segoe UI"/>
              </a:rPr>
              <a:t>Etapa</a:t>
            </a:r>
          </a:p>
        </p:txBody>
      </p:sp>
      <p:sp>
        <p:nvSpPr>
          <p:cNvPr id="30" name="TextBox 29"/>
          <p:cNvSpPr txBox="1"/>
          <p:nvPr/>
        </p:nvSpPr>
        <p:spPr>
          <a:xfrm>
            <a:off x="7223760" y="1783080"/>
            <a:ext cx="960120" cy="32004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6E6E6E"/>
                </a:solidFill>
                <a:latin typeface="Segoe UI"/>
              </a:rPr>
              <a:t>IA</a:t>
            </a:r>
          </a:p>
        </p:txBody>
      </p:sp>
      <p:sp>
        <p:nvSpPr>
          <p:cNvPr id="31" name="TextBox 30"/>
          <p:cNvSpPr txBox="1"/>
          <p:nvPr/>
        </p:nvSpPr>
        <p:spPr>
          <a:xfrm>
            <a:off x="8183879" y="1783080"/>
            <a:ext cx="1737360" cy="32004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6E6E6E"/>
                </a:solidFill>
                <a:latin typeface="Segoe UI"/>
              </a:rPr>
              <a:t>Qué hace la IA</a:t>
            </a:r>
          </a:p>
        </p:txBody>
      </p:sp>
      <p:sp>
        <p:nvSpPr>
          <p:cNvPr id="32" name="TextBox 31"/>
          <p:cNvSpPr txBox="1"/>
          <p:nvPr/>
        </p:nvSpPr>
        <p:spPr>
          <a:xfrm>
            <a:off x="9966959" y="1783080"/>
            <a:ext cx="1600200" cy="320040"/>
          </a:xfrm>
          <a:prstGeom prst="rect">
            <a:avLst/>
          </a:prstGeom>
          <a:noFill/>
        </p:spPr>
        <p:txBody>
          <a:bodyPr wrap="square" lIns="45720" tIns="18288" rIns="45720" bIns="18288" anchor="t">
            <a:spAutoFit/>
          </a:bodyPr>
          <a:lstStyle/>
          <a:p>
            <a:pPr algn="l">
              <a:lnSpc>
                <a:spcPct val="115000"/>
              </a:lnSpc>
              <a:spcAft>
                <a:spcPts val="600"/>
              </a:spcAft>
            </a:pPr>
            <a:r>
              <a:rPr sz="1100" b="1">
                <a:solidFill>
                  <a:srgbClr val="6E6E6E"/>
                </a:solidFill>
                <a:latin typeface="Segoe UI"/>
              </a:rPr>
              <a:t>Qué hace el analista</a:t>
            </a:r>
          </a:p>
        </p:txBody>
      </p:sp>
      <p:sp>
        <p:nvSpPr>
          <p:cNvPr id="33" name="Rectangle 32"/>
          <p:cNvSpPr/>
          <p:nvPr/>
        </p:nvSpPr>
        <p:spPr>
          <a:xfrm>
            <a:off x="5989320" y="2112264"/>
            <a:ext cx="5532120" cy="18288"/>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989320" y="2240280"/>
            <a:ext cx="1234440" cy="54864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111111"/>
                </a:solidFill>
                <a:latin typeface="Segoe UI"/>
              </a:rPr>
              <a:t>Abstraer</a:t>
            </a:r>
          </a:p>
        </p:txBody>
      </p:sp>
      <p:sp>
        <p:nvSpPr>
          <p:cNvPr id="35" name="Oval 34"/>
          <p:cNvSpPr/>
          <p:nvPr/>
        </p:nvSpPr>
        <p:spPr>
          <a:xfrm>
            <a:off x="7223760" y="2331720"/>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7452360" y="2331720"/>
            <a:ext cx="155448" cy="155448"/>
          </a:xfrm>
          <a:prstGeom prst="ellipse">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7680960" y="2331720"/>
            <a:ext cx="155448" cy="155448"/>
          </a:xfrm>
          <a:prstGeom prst="ellipse">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183879" y="2240280"/>
            <a:ext cx="173736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Ordena el material para consultarlo.</a:t>
            </a:r>
          </a:p>
        </p:txBody>
      </p:sp>
      <p:sp>
        <p:nvSpPr>
          <p:cNvPr id="39" name="TextBox 38"/>
          <p:cNvSpPr txBox="1"/>
          <p:nvPr/>
        </p:nvSpPr>
        <p:spPr>
          <a:xfrm>
            <a:off x="9966959" y="2240280"/>
            <a:ext cx="160020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Entiende el negocio y escribe los casos de uso.</a:t>
            </a:r>
          </a:p>
        </p:txBody>
      </p:sp>
      <p:sp>
        <p:nvSpPr>
          <p:cNvPr id="40" name="Rectangle 39"/>
          <p:cNvSpPr/>
          <p:nvPr/>
        </p:nvSpPr>
        <p:spPr>
          <a:xfrm>
            <a:off x="5989320" y="2843784"/>
            <a:ext cx="553212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89320" y="2907792"/>
            <a:ext cx="1234440" cy="54864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111111"/>
                </a:solidFill>
                <a:latin typeface="Segoe UI"/>
              </a:rPr>
              <a:t>Razonar</a:t>
            </a:r>
          </a:p>
        </p:txBody>
      </p:sp>
      <p:sp>
        <p:nvSpPr>
          <p:cNvPr id="42" name="Oval 41"/>
          <p:cNvSpPr/>
          <p:nvPr/>
        </p:nvSpPr>
        <p:spPr>
          <a:xfrm>
            <a:off x="7223760" y="2999232"/>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Oval 42"/>
          <p:cNvSpPr/>
          <p:nvPr/>
        </p:nvSpPr>
        <p:spPr>
          <a:xfrm>
            <a:off x="7452360" y="2999232"/>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7680960" y="2999232"/>
            <a:ext cx="155448" cy="155448"/>
          </a:xfrm>
          <a:prstGeom prst="ellipse">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183879" y="2907792"/>
            <a:ext cx="173736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Detecta ambigüedades y contradicciones.</a:t>
            </a:r>
          </a:p>
        </p:txBody>
      </p:sp>
      <p:sp>
        <p:nvSpPr>
          <p:cNvPr id="46" name="TextBox 45"/>
          <p:cNvSpPr txBox="1"/>
          <p:nvPr/>
        </p:nvSpPr>
        <p:spPr>
          <a:xfrm>
            <a:off x="9966959" y="2907792"/>
            <a:ext cx="160020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Decide cómo se resuelve cada una.</a:t>
            </a:r>
          </a:p>
        </p:txBody>
      </p:sp>
      <p:sp>
        <p:nvSpPr>
          <p:cNvPr id="47" name="Rectangle 46"/>
          <p:cNvSpPr/>
          <p:nvPr/>
        </p:nvSpPr>
        <p:spPr>
          <a:xfrm>
            <a:off x="5989320" y="3511296"/>
            <a:ext cx="553212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989320" y="3575304"/>
            <a:ext cx="1234440" cy="54864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111111"/>
                </a:solidFill>
                <a:latin typeface="Segoe UI"/>
              </a:rPr>
              <a:t>Diseñar</a:t>
            </a:r>
          </a:p>
        </p:txBody>
      </p:sp>
      <p:sp>
        <p:nvSpPr>
          <p:cNvPr id="49" name="Oval 48"/>
          <p:cNvSpPr/>
          <p:nvPr/>
        </p:nvSpPr>
        <p:spPr>
          <a:xfrm>
            <a:off x="7223760" y="3666744"/>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7452360" y="3666744"/>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val 50"/>
          <p:cNvSpPr/>
          <p:nvPr/>
        </p:nvSpPr>
        <p:spPr>
          <a:xfrm>
            <a:off x="7680960" y="3666744"/>
            <a:ext cx="155448" cy="155448"/>
          </a:xfrm>
          <a:prstGeom prst="ellipse">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83879" y="3575304"/>
            <a:ext cx="173736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Propone planes y alternativas.</a:t>
            </a:r>
          </a:p>
        </p:txBody>
      </p:sp>
      <p:sp>
        <p:nvSpPr>
          <p:cNvPr id="53" name="TextBox 52"/>
          <p:cNvSpPr txBox="1"/>
          <p:nvPr/>
        </p:nvSpPr>
        <p:spPr>
          <a:xfrm>
            <a:off x="9966959" y="3575304"/>
            <a:ext cx="160020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Aprueba el plan antes de programar.</a:t>
            </a:r>
          </a:p>
        </p:txBody>
      </p:sp>
      <p:sp>
        <p:nvSpPr>
          <p:cNvPr id="54" name="Rectangle 53"/>
          <p:cNvSpPr/>
          <p:nvPr/>
        </p:nvSpPr>
        <p:spPr>
          <a:xfrm>
            <a:off x="5989320" y="4178808"/>
            <a:ext cx="553212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989320" y="4242816"/>
            <a:ext cx="1234440" cy="54864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111111"/>
                </a:solidFill>
                <a:latin typeface="Segoe UI"/>
              </a:rPr>
              <a:t>Elaborar</a:t>
            </a:r>
          </a:p>
        </p:txBody>
      </p:sp>
      <p:sp>
        <p:nvSpPr>
          <p:cNvPr id="56" name="Oval 55"/>
          <p:cNvSpPr/>
          <p:nvPr/>
        </p:nvSpPr>
        <p:spPr>
          <a:xfrm>
            <a:off x="7223760" y="4334256"/>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Oval 56"/>
          <p:cNvSpPr/>
          <p:nvPr/>
        </p:nvSpPr>
        <p:spPr>
          <a:xfrm>
            <a:off x="7452360" y="4334256"/>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7680960" y="4334256"/>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183879" y="4242816"/>
            <a:ext cx="173736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Escribe código, pruebas y pantallas.</a:t>
            </a:r>
          </a:p>
        </p:txBody>
      </p:sp>
      <p:sp>
        <p:nvSpPr>
          <p:cNvPr id="60" name="TextBox 59"/>
          <p:cNvSpPr txBox="1"/>
          <p:nvPr/>
        </p:nvSpPr>
        <p:spPr>
          <a:xfrm>
            <a:off x="9966959" y="4242816"/>
            <a:ext cx="160020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Revisa lo que se construye.</a:t>
            </a:r>
          </a:p>
        </p:txBody>
      </p:sp>
      <p:sp>
        <p:nvSpPr>
          <p:cNvPr id="61" name="Rectangle 60"/>
          <p:cNvSpPr/>
          <p:nvPr/>
        </p:nvSpPr>
        <p:spPr>
          <a:xfrm>
            <a:off x="5989320" y="4846320"/>
            <a:ext cx="553212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989320" y="4910328"/>
            <a:ext cx="1234440" cy="54864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111111"/>
                </a:solidFill>
                <a:latin typeface="Segoe UI"/>
              </a:rPr>
              <a:t>Evaluar</a:t>
            </a:r>
          </a:p>
        </p:txBody>
      </p:sp>
      <p:sp>
        <p:nvSpPr>
          <p:cNvPr id="63" name="Oval 62"/>
          <p:cNvSpPr/>
          <p:nvPr/>
        </p:nvSpPr>
        <p:spPr>
          <a:xfrm>
            <a:off x="7223760" y="5001768"/>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Oval 63"/>
          <p:cNvSpPr/>
          <p:nvPr/>
        </p:nvSpPr>
        <p:spPr>
          <a:xfrm>
            <a:off x="7452360" y="5001768"/>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Oval 64"/>
          <p:cNvSpPr/>
          <p:nvPr/>
        </p:nvSpPr>
        <p:spPr>
          <a:xfrm>
            <a:off x="7680960" y="5001768"/>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8183879" y="4910328"/>
            <a:ext cx="173736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Corre pruebas, verificaciones y capturas.</a:t>
            </a:r>
          </a:p>
        </p:txBody>
      </p:sp>
      <p:sp>
        <p:nvSpPr>
          <p:cNvPr id="67" name="TextBox 66"/>
          <p:cNvSpPr txBox="1"/>
          <p:nvPr/>
        </p:nvSpPr>
        <p:spPr>
          <a:xfrm>
            <a:off x="9966959" y="4910328"/>
            <a:ext cx="160020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Valida el resultado en el sistema.</a:t>
            </a:r>
          </a:p>
        </p:txBody>
      </p:sp>
      <p:sp>
        <p:nvSpPr>
          <p:cNvPr id="68" name="Rectangle 67"/>
          <p:cNvSpPr/>
          <p:nvPr/>
        </p:nvSpPr>
        <p:spPr>
          <a:xfrm>
            <a:off x="5989320" y="5513832"/>
            <a:ext cx="553212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989320" y="5577840"/>
            <a:ext cx="1234440" cy="54864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111111"/>
                </a:solidFill>
                <a:latin typeface="Segoe UI"/>
              </a:rPr>
              <a:t>Corregir</a:t>
            </a:r>
          </a:p>
        </p:txBody>
      </p:sp>
      <p:sp>
        <p:nvSpPr>
          <p:cNvPr id="70" name="Oval 69"/>
          <p:cNvSpPr/>
          <p:nvPr/>
        </p:nvSpPr>
        <p:spPr>
          <a:xfrm>
            <a:off x="7223760" y="5669279"/>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Oval 70"/>
          <p:cNvSpPr/>
          <p:nvPr/>
        </p:nvSpPr>
        <p:spPr>
          <a:xfrm>
            <a:off x="7452360" y="5669279"/>
            <a:ext cx="155448" cy="155448"/>
          </a:xfrm>
          <a:prstGeom prst="ellipse">
            <a:avLst/>
          </a:prstGeom>
          <a:solidFill>
            <a:srgbClr val="F26B1D"/>
          </a:solidFill>
          <a:ln w="12700">
            <a:solidFill>
              <a:srgbClr val="F26B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Oval 71"/>
          <p:cNvSpPr/>
          <p:nvPr/>
        </p:nvSpPr>
        <p:spPr>
          <a:xfrm>
            <a:off x="7680960" y="5669279"/>
            <a:ext cx="155448" cy="155448"/>
          </a:xfrm>
          <a:prstGeom prst="ellipse">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8183879" y="5577840"/>
            <a:ext cx="173736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Corrige y registra cada decisión.</a:t>
            </a:r>
          </a:p>
        </p:txBody>
      </p:sp>
      <p:sp>
        <p:nvSpPr>
          <p:cNvPr id="74" name="TextBox 73"/>
          <p:cNvSpPr txBox="1"/>
          <p:nvPr/>
        </p:nvSpPr>
        <p:spPr>
          <a:xfrm>
            <a:off x="9966959" y="5577840"/>
            <a:ext cx="1600200" cy="64008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3A3A3A"/>
                </a:solidFill>
                <a:latin typeface="Segoe UI"/>
              </a:rPr>
              <a:t>Enmienda el documento de análisis.</a:t>
            </a:r>
          </a:p>
        </p:txBody>
      </p:sp>
      <p:sp>
        <p:nvSpPr>
          <p:cNvPr id="75" name="Rectangle 74"/>
          <p:cNvSpPr/>
          <p:nvPr/>
        </p:nvSpPr>
        <p:spPr>
          <a:xfrm>
            <a:off x="5989320" y="6181344"/>
            <a:ext cx="553212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5989320" y="5897880"/>
            <a:ext cx="5532120" cy="365760"/>
          </a:xfrm>
          <a:prstGeom prst="rect">
            <a:avLst/>
          </a:prstGeom>
          <a:noFill/>
        </p:spPr>
        <p:txBody>
          <a:bodyPr wrap="square" lIns="45720" tIns="18288" rIns="45720" bIns="18288" anchor="t">
            <a:spAutoFit/>
          </a:bodyPr>
          <a:lstStyle/>
          <a:p>
            <a:pPr algn="l">
              <a:lnSpc>
                <a:spcPct val="115000"/>
              </a:lnSpc>
              <a:spcAft>
                <a:spcPts val="600"/>
              </a:spcAft>
            </a:pPr>
            <a:r>
              <a:rPr sz="1100" b="0">
                <a:solidFill>
                  <a:srgbClr val="6E6E6E"/>
                </a:solidFill>
                <a:latin typeface="Segoe UI"/>
              </a:rPr>
              <a:t>Participación de la IA:  ●○○ baja   ●●○ media   ●●● alta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36576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F26B1D"/>
                </a:solidFill>
                <a:latin typeface="Segoe UI"/>
              </a:rPr>
              <a:t>QUÉ ESTÁ HECHO</a:t>
            </a:r>
          </a:p>
        </p:txBody>
      </p:sp>
      <p:sp>
        <p:nvSpPr>
          <p:cNvPr id="4" name="TextBox 3"/>
          <p:cNvSpPr txBox="1"/>
          <p:nvPr/>
        </p:nvSpPr>
        <p:spPr>
          <a:xfrm>
            <a:off x="640080" y="731520"/>
            <a:ext cx="10789920" cy="822960"/>
          </a:xfrm>
          <a:prstGeom prst="rect">
            <a:avLst/>
          </a:prstGeom>
          <a:noFill/>
        </p:spPr>
        <p:txBody>
          <a:bodyPr wrap="square" lIns="45720" tIns="18288" rIns="45720" bIns="18288" anchor="t">
            <a:spAutoFit/>
          </a:bodyPr>
          <a:lstStyle/>
          <a:p>
            <a:pPr algn="l">
              <a:lnSpc>
                <a:spcPct val="115000"/>
              </a:lnSpc>
              <a:spcAft>
                <a:spcPts val="600"/>
              </a:spcAft>
            </a:pPr>
            <a:r>
              <a:rPr sz="3400" b="0">
                <a:solidFill>
                  <a:srgbClr val="111111"/>
                </a:solidFill>
                <a:latin typeface="Segoe UI Semibold"/>
              </a:rPr>
              <a:t>Avance medido, no estimado</a:t>
            </a:r>
          </a:p>
        </p:txBody>
      </p:sp>
      <p:sp>
        <p:nvSpPr>
          <p:cNvPr id="5" name="Rectangle 4"/>
          <p:cNvSpPr/>
          <p:nvPr/>
        </p:nvSpPr>
        <p:spPr>
          <a:xfrm>
            <a:off x="640080" y="1572768"/>
            <a:ext cx="108813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355080"/>
            <a:ext cx="108813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00800"/>
            <a:ext cx="5486400" cy="320040"/>
          </a:xfrm>
          <a:prstGeom prst="rect">
            <a:avLst/>
          </a:prstGeom>
          <a:noFill/>
        </p:spPr>
        <p:txBody>
          <a:bodyPr wrap="square" lIns="45720" tIns="18288" rIns="45720" bIns="18288" anchor="t">
            <a:spAutoFit/>
          </a:bodyPr>
          <a:lstStyle/>
          <a:p>
            <a:pPr algn="l">
              <a:lnSpc>
                <a:spcPct val="115000"/>
              </a:lnSpc>
              <a:spcAft>
                <a:spcPts val="600"/>
              </a:spcAft>
            </a:pPr>
            <a:r>
              <a:rPr sz="1000" b="0">
                <a:solidFill>
                  <a:srgbClr val="6E6E6E"/>
                </a:solidFill>
                <a:latin typeface="Segoe UI"/>
              </a:rPr>
              <a:t>Longbox · Trabajo final de grado</a:t>
            </a:r>
          </a:p>
        </p:txBody>
      </p:sp>
      <p:sp>
        <p:nvSpPr>
          <p:cNvPr id="8" name="TextBox 7"/>
          <p:cNvSpPr txBox="1"/>
          <p:nvPr/>
        </p:nvSpPr>
        <p:spPr>
          <a:xfrm>
            <a:off x="6949440" y="6400800"/>
            <a:ext cx="4572000" cy="320040"/>
          </a:xfrm>
          <a:prstGeom prst="rect">
            <a:avLst/>
          </a:prstGeom>
          <a:noFill/>
        </p:spPr>
        <p:txBody>
          <a:bodyPr wrap="square" lIns="45720" tIns="18288" rIns="45720" bIns="18288" anchor="t">
            <a:spAutoFit/>
          </a:bodyPr>
          <a:lstStyle/>
          <a:p>
            <a:pPr algn="r">
              <a:lnSpc>
                <a:spcPct val="115000"/>
              </a:lnSpc>
              <a:spcAft>
                <a:spcPts val="600"/>
              </a:spcAft>
            </a:pPr>
            <a:r>
              <a:rPr sz="1000" b="0">
                <a:solidFill>
                  <a:srgbClr val="6E6E6E"/>
                </a:solidFill>
                <a:latin typeface="Segoe UI"/>
              </a:rPr>
              <a:t>Presentación · 3:15   ·   6 / 10</a:t>
            </a:r>
          </a:p>
        </p:txBody>
      </p:sp>
      <p:sp>
        <p:nvSpPr>
          <p:cNvPr id="9" name="Rectangle 8"/>
          <p:cNvSpPr/>
          <p:nvPr/>
        </p:nvSpPr>
        <p:spPr>
          <a:xfrm>
            <a:off x="640080" y="1874519"/>
            <a:ext cx="2606040" cy="160020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2011680"/>
            <a:ext cx="2286000" cy="822960"/>
          </a:xfrm>
          <a:prstGeom prst="rect">
            <a:avLst/>
          </a:prstGeom>
          <a:noFill/>
        </p:spPr>
        <p:txBody>
          <a:bodyPr wrap="square" lIns="45720" tIns="18288" rIns="45720" bIns="18288" anchor="t">
            <a:spAutoFit/>
          </a:bodyPr>
          <a:lstStyle/>
          <a:p>
            <a:pPr algn="l">
              <a:lnSpc>
                <a:spcPct val="115000"/>
              </a:lnSpc>
              <a:spcAft>
                <a:spcPts val="600"/>
              </a:spcAft>
            </a:pPr>
            <a:r>
              <a:rPr sz="4400" b="0">
                <a:solidFill>
                  <a:srgbClr val="111111"/>
                </a:solidFill>
                <a:latin typeface="Segoe UI Semibold"/>
              </a:rPr>
              <a:t>103</a:t>
            </a:r>
          </a:p>
        </p:txBody>
      </p:sp>
      <p:sp>
        <p:nvSpPr>
          <p:cNvPr id="11" name="TextBox 10"/>
          <p:cNvSpPr txBox="1"/>
          <p:nvPr/>
        </p:nvSpPr>
        <p:spPr>
          <a:xfrm>
            <a:off x="868680" y="2834640"/>
            <a:ext cx="2286000" cy="54864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3A3A3A"/>
                </a:solidFill>
                <a:latin typeface="Segoe UI"/>
              </a:rPr>
              <a:t>casos de uso especificados</a:t>
            </a:r>
          </a:p>
        </p:txBody>
      </p:sp>
      <p:sp>
        <p:nvSpPr>
          <p:cNvPr id="12" name="Rectangle 11"/>
          <p:cNvSpPr/>
          <p:nvPr/>
        </p:nvSpPr>
        <p:spPr>
          <a:xfrm>
            <a:off x="3401568" y="1874519"/>
            <a:ext cx="2606040" cy="160020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30168" y="2011680"/>
            <a:ext cx="2286000" cy="822960"/>
          </a:xfrm>
          <a:prstGeom prst="rect">
            <a:avLst/>
          </a:prstGeom>
          <a:noFill/>
        </p:spPr>
        <p:txBody>
          <a:bodyPr wrap="square" lIns="45720" tIns="18288" rIns="45720" bIns="18288" anchor="t">
            <a:spAutoFit/>
          </a:bodyPr>
          <a:lstStyle/>
          <a:p>
            <a:pPr algn="l">
              <a:lnSpc>
                <a:spcPct val="115000"/>
              </a:lnSpc>
              <a:spcAft>
                <a:spcPts val="600"/>
              </a:spcAft>
            </a:pPr>
            <a:r>
              <a:rPr sz="4400" b="0">
                <a:solidFill>
                  <a:srgbClr val="F26B1D"/>
                </a:solidFill>
                <a:latin typeface="Segoe UI Semibold"/>
              </a:rPr>
              <a:t>57</a:t>
            </a:r>
          </a:p>
        </p:txBody>
      </p:sp>
      <p:sp>
        <p:nvSpPr>
          <p:cNvPr id="14" name="TextBox 13"/>
          <p:cNvSpPr txBox="1"/>
          <p:nvPr/>
        </p:nvSpPr>
        <p:spPr>
          <a:xfrm>
            <a:off x="3630168" y="2834640"/>
            <a:ext cx="2286000" cy="54864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3A3A3A"/>
                </a:solidFill>
                <a:latin typeface="Segoe UI"/>
              </a:rPr>
              <a:t>con código construido</a:t>
            </a:r>
          </a:p>
        </p:txBody>
      </p:sp>
      <p:sp>
        <p:nvSpPr>
          <p:cNvPr id="15" name="Rectangle 14"/>
          <p:cNvSpPr/>
          <p:nvPr/>
        </p:nvSpPr>
        <p:spPr>
          <a:xfrm>
            <a:off x="6163056" y="1874519"/>
            <a:ext cx="2606040" cy="160020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91656" y="2011680"/>
            <a:ext cx="2286000" cy="822960"/>
          </a:xfrm>
          <a:prstGeom prst="rect">
            <a:avLst/>
          </a:prstGeom>
          <a:noFill/>
        </p:spPr>
        <p:txBody>
          <a:bodyPr wrap="square" lIns="45720" tIns="18288" rIns="45720" bIns="18288" anchor="t">
            <a:spAutoFit/>
          </a:bodyPr>
          <a:lstStyle/>
          <a:p>
            <a:pPr algn="l">
              <a:lnSpc>
                <a:spcPct val="115000"/>
              </a:lnSpc>
              <a:spcAft>
                <a:spcPts val="600"/>
              </a:spcAft>
            </a:pPr>
            <a:r>
              <a:rPr sz="4400" b="0">
                <a:solidFill>
                  <a:srgbClr val="111111"/>
                </a:solidFill>
                <a:latin typeface="Segoe UI Semibold"/>
              </a:rPr>
              <a:t>219</a:t>
            </a:r>
          </a:p>
        </p:txBody>
      </p:sp>
      <p:sp>
        <p:nvSpPr>
          <p:cNvPr id="17" name="TextBox 16"/>
          <p:cNvSpPr txBox="1"/>
          <p:nvPr/>
        </p:nvSpPr>
        <p:spPr>
          <a:xfrm>
            <a:off x="6391656" y="2834640"/>
            <a:ext cx="2286000" cy="54864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3A3A3A"/>
                </a:solidFill>
                <a:latin typeface="Segoe UI"/>
              </a:rPr>
              <a:t>contratos de operación</a:t>
            </a:r>
          </a:p>
        </p:txBody>
      </p:sp>
      <p:sp>
        <p:nvSpPr>
          <p:cNvPr id="18" name="Rectangle 17"/>
          <p:cNvSpPr/>
          <p:nvPr/>
        </p:nvSpPr>
        <p:spPr>
          <a:xfrm>
            <a:off x="8924544" y="1874519"/>
            <a:ext cx="2606040" cy="1600200"/>
          </a:xfrm>
          <a:prstGeom prst="rect">
            <a:avLst/>
          </a:prstGeom>
          <a:no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53144" y="2011680"/>
            <a:ext cx="2286000" cy="822960"/>
          </a:xfrm>
          <a:prstGeom prst="rect">
            <a:avLst/>
          </a:prstGeom>
          <a:noFill/>
        </p:spPr>
        <p:txBody>
          <a:bodyPr wrap="square" lIns="45720" tIns="18288" rIns="45720" bIns="18288" anchor="t">
            <a:spAutoFit/>
          </a:bodyPr>
          <a:lstStyle/>
          <a:p>
            <a:pPr algn="l">
              <a:lnSpc>
                <a:spcPct val="115000"/>
              </a:lnSpc>
              <a:spcAft>
                <a:spcPts val="600"/>
              </a:spcAft>
            </a:pPr>
            <a:r>
              <a:rPr sz="4400" b="0">
                <a:solidFill>
                  <a:srgbClr val="F26B1D"/>
                </a:solidFill>
                <a:latin typeface="Segoe UI Semibold"/>
              </a:rPr>
              <a:t>26</a:t>
            </a:r>
          </a:p>
        </p:txBody>
      </p:sp>
      <p:sp>
        <p:nvSpPr>
          <p:cNvPr id="20" name="TextBox 19"/>
          <p:cNvSpPr txBox="1"/>
          <p:nvPr/>
        </p:nvSpPr>
        <p:spPr>
          <a:xfrm>
            <a:off x="9153144" y="2834640"/>
            <a:ext cx="2286000" cy="548640"/>
          </a:xfrm>
          <a:prstGeom prst="rect">
            <a:avLst/>
          </a:prstGeom>
          <a:noFill/>
        </p:spPr>
        <p:txBody>
          <a:bodyPr wrap="square" lIns="45720" tIns="18288" rIns="45720" bIns="18288" anchor="t">
            <a:spAutoFit/>
          </a:bodyPr>
          <a:lstStyle/>
          <a:p>
            <a:pPr algn="l">
              <a:lnSpc>
                <a:spcPct val="115000"/>
              </a:lnSpc>
              <a:spcAft>
                <a:spcPts val="600"/>
              </a:spcAft>
            </a:pPr>
            <a:r>
              <a:rPr sz="1300" b="0">
                <a:solidFill>
                  <a:srgbClr val="3A3A3A"/>
                </a:solidFill>
                <a:latin typeface="Segoe UI"/>
              </a:rPr>
              <a:t>contratos verificados por prueba</a:t>
            </a:r>
          </a:p>
        </p:txBody>
      </p:sp>
      <p:sp>
        <p:nvSpPr>
          <p:cNvPr id="21" name="TextBox 20"/>
          <p:cNvSpPr txBox="1"/>
          <p:nvPr/>
        </p:nvSpPr>
        <p:spPr>
          <a:xfrm>
            <a:off x="640080" y="3794760"/>
            <a:ext cx="10058400" cy="36576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Estado de los 103 casos de uso</a:t>
            </a:r>
          </a:p>
        </p:txBody>
      </p:sp>
      <p:sp>
        <p:nvSpPr>
          <p:cNvPr id="22" name="Rectangle 21"/>
          <p:cNvSpPr/>
          <p:nvPr/>
        </p:nvSpPr>
        <p:spPr>
          <a:xfrm>
            <a:off x="640080" y="4251960"/>
            <a:ext cx="1162086" cy="50292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0080" y="4251960"/>
            <a:ext cx="1162086" cy="502920"/>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11</a:t>
            </a:r>
          </a:p>
        </p:txBody>
      </p:sp>
      <p:sp>
        <p:nvSpPr>
          <p:cNvPr id="24" name="Rectangle 23"/>
          <p:cNvSpPr/>
          <p:nvPr/>
        </p:nvSpPr>
        <p:spPr>
          <a:xfrm>
            <a:off x="1802166" y="4251960"/>
            <a:ext cx="950798" cy="5029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802166" y="4251960"/>
            <a:ext cx="950798" cy="502920"/>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9</a:t>
            </a:r>
          </a:p>
        </p:txBody>
      </p:sp>
      <p:sp>
        <p:nvSpPr>
          <p:cNvPr id="26" name="Rectangle 25"/>
          <p:cNvSpPr/>
          <p:nvPr/>
        </p:nvSpPr>
        <p:spPr>
          <a:xfrm>
            <a:off x="2752965" y="4251960"/>
            <a:ext cx="3908838" cy="502920"/>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752965" y="4251960"/>
            <a:ext cx="3908838" cy="502920"/>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FFFFFF"/>
                </a:solidFill>
                <a:latin typeface="Segoe UI"/>
              </a:rPr>
              <a:t>37</a:t>
            </a:r>
          </a:p>
        </p:txBody>
      </p:sp>
      <p:sp>
        <p:nvSpPr>
          <p:cNvPr id="28" name="Rectangle 27"/>
          <p:cNvSpPr/>
          <p:nvPr/>
        </p:nvSpPr>
        <p:spPr>
          <a:xfrm>
            <a:off x="6661803" y="4251960"/>
            <a:ext cx="4859636" cy="502920"/>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61803" y="4251960"/>
            <a:ext cx="4859636" cy="502920"/>
          </a:xfrm>
          <a:prstGeom prst="rect">
            <a:avLst/>
          </a:prstGeom>
          <a:noFill/>
        </p:spPr>
        <p:txBody>
          <a:bodyPr wrap="square" lIns="45720" tIns="18288" rIns="45720" bIns="18288" anchor="ctr">
            <a:spAutoFit/>
          </a:bodyPr>
          <a:lstStyle/>
          <a:p>
            <a:pPr algn="ctr">
              <a:lnSpc>
                <a:spcPct val="115000"/>
              </a:lnSpc>
              <a:spcAft>
                <a:spcPts val="600"/>
              </a:spcAft>
            </a:pPr>
            <a:r>
              <a:rPr sz="1400" b="1">
                <a:solidFill>
                  <a:srgbClr val="111111"/>
                </a:solidFill>
                <a:latin typeface="Segoe UI"/>
              </a:rPr>
              <a:t>46</a:t>
            </a:r>
          </a:p>
        </p:txBody>
      </p:sp>
      <p:sp>
        <p:nvSpPr>
          <p:cNvPr id="30" name="Rectangle 29"/>
          <p:cNvSpPr/>
          <p:nvPr/>
        </p:nvSpPr>
        <p:spPr>
          <a:xfrm>
            <a:off x="640080" y="4956048"/>
            <a:ext cx="164592" cy="164592"/>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96112" y="4873752"/>
            <a:ext cx="2194560" cy="365760"/>
          </a:xfrm>
          <a:prstGeom prst="rect">
            <a:avLst/>
          </a:prstGeom>
          <a:noFill/>
        </p:spPr>
        <p:txBody>
          <a:bodyPr wrap="square" lIns="45720" tIns="18288" rIns="45720" bIns="18288" anchor="t">
            <a:spAutoFit/>
          </a:bodyPr>
          <a:lstStyle/>
          <a:p>
            <a:pPr algn="l">
              <a:lnSpc>
                <a:spcPct val="115000"/>
              </a:lnSpc>
              <a:spcAft>
                <a:spcPts val="600"/>
              </a:spcAft>
            </a:pPr>
            <a:r>
              <a:rPr sz="1200" b="0">
                <a:solidFill>
                  <a:srgbClr val="3A3A3A"/>
                </a:solidFill>
                <a:latin typeface="Segoe UI"/>
              </a:rPr>
              <a:t>Verificados</a:t>
            </a:r>
          </a:p>
        </p:txBody>
      </p:sp>
      <p:sp>
        <p:nvSpPr>
          <p:cNvPr id="32" name="Rectangle 31"/>
          <p:cNvSpPr/>
          <p:nvPr/>
        </p:nvSpPr>
        <p:spPr>
          <a:xfrm>
            <a:off x="3017520" y="4956048"/>
            <a:ext cx="164592" cy="164592"/>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273552" y="4873752"/>
            <a:ext cx="2194560" cy="365760"/>
          </a:xfrm>
          <a:prstGeom prst="rect">
            <a:avLst/>
          </a:prstGeom>
          <a:noFill/>
        </p:spPr>
        <p:txBody>
          <a:bodyPr wrap="square" lIns="45720" tIns="18288" rIns="45720" bIns="18288" anchor="t">
            <a:spAutoFit/>
          </a:bodyPr>
          <a:lstStyle/>
          <a:p>
            <a:pPr algn="l">
              <a:lnSpc>
                <a:spcPct val="115000"/>
              </a:lnSpc>
              <a:spcAft>
                <a:spcPts val="600"/>
              </a:spcAft>
            </a:pPr>
            <a:r>
              <a:rPr sz="1200" b="0">
                <a:solidFill>
                  <a:srgbClr val="3A3A3A"/>
                </a:solidFill>
                <a:latin typeface="Segoe UI"/>
              </a:rPr>
              <a:t>Construidos</a:t>
            </a:r>
          </a:p>
        </p:txBody>
      </p:sp>
      <p:sp>
        <p:nvSpPr>
          <p:cNvPr id="34" name="Rectangle 33"/>
          <p:cNvSpPr/>
          <p:nvPr/>
        </p:nvSpPr>
        <p:spPr>
          <a:xfrm>
            <a:off x="5394960" y="4956048"/>
            <a:ext cx="164592" cy="164592"/>
          </a:xfrm>
          <a:prstGeom prst="rect">
            <a:avLst/>
          </a:prstGeom>
          <a:solidFill>
            <a:srgbClr val="6E6E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50992" y="4873752"/>
            <a:ext cx="2194560" cy="365760"/>
          </a:xfrm>
          <a:prstGeom prst="rect">
            <a:avLst/>
          </a:prstGeom>
          <a:noFill/>
        </p:spPr>
        <p:txBody>
          <a:bodyPr wrap="square" lIns="45720" tIns="18288" rIns="45720" bIns="18288" anchor="t">
            <a:spAutoFit/>
          </a:bodyPr>
          <a:lstStyle/>
          <a:p>
            <a:pPr algn="l">
              <a:lnSpc>
                <a:spcPct val="115000"/>
              </a:lnSpc>
              <a:spcAft>
                <a:spcPts val="600"/>
              </a:spcAft>
            </a:pPr>
            <a:r>
              <a:rPr sz="1200" b="0">
                <a:solidFill>
                  <a:srgbClr val="3A3A3A"/>
                </a:solidFill>
                <a:latin typeface="Segoe UI"/>
              </a:rPr>
              <a:t>Parciales</a:t>
            </a:r>
          </a:p>
        </p:txBody>
      </p:sp>
      <p:sp>
        <p:nvSpPr>
          <p:cNvPr id="36" name="Rectangle 35"/>
          <p:cNvSpPr/>
          <p:nvPr/>
        </p:nvSpPr>
        <p:spPr>
          <a:xfrm>
            <a:off x="7772400" y="4956048"/>
            <a:ext cx="164592" cy="16459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28431" y="4873752"/>
            <a:ext cx="2194560" cy="365760"/>
          </a:xfrm>
          <a:prstGeom prst="rect">
            <a:avLst/>
          </a:prstGeom>
          <a:noFill/>
        </p:spPr>
        <p:txBody>
          <a:bodyPr wrap="square" lIns="45720" tIns="18288" rIns="45720" bIns="18288" anchor="t">
            <a:spAutoFit/>
          </a:bodyPr>
          <a:lstStyle/>
          <a:p>
            <a:pPr algn="l">
              <a:lnSpc>
                <a:spcPct val="115000"/>
              </a:lnSpc>
              <a:spcAft>
                <a:spcPts val="600"/>
              </a:spcAft>
            </a:pPr>
            <a:r>
              <a:rPr sz="1200" b="0">
                <a:solidFill>
                  <a:srgbClr val="3A3A3A"/>
                </a:solidFill>
                <a:latin typeface="Segoe UI"/>
              </a:rPr>
              <a:t>Pendientes</a:t>
            </a:r>
          </a:p>
        </p:txBody>
      </p:sp>
      <p:sp>
        <p:nvSpPr>
          <p:cNvPr id="38" name="TextBox 37"/>
          <p:cNvSpPr txBox="1"/>
          <p:nvPr/>
        </p:nvSpPr>
        <p:spPr>
          <a:xfrm>
            <a:off x="640080" y="5532120"/>
            <a:ext cx="10881360" cy="640080"/>
          </a:xfrm>
          <a:prstGeom prst="rect">
            <a:avLst/>
          </a:prstGeom>
          <a:noFill/>
        </p:spPr>
        <p:txBody>
          <a:bodyPr wrap="square" lIns="45720" tIns="18288" rIns="45720" bIns="18288" anchor="t">
            <a:spAutoFit/>
          </a:bodyPr>
          <a:lstStyle/>
          <a:p>
            <a:pPr algn="l">
              <a:lnSpc>
                <a:spcPct val="115000"/>
              </a:lnSpc>
              <a:spcAft>
                <a:spcPts val="600"/>
              </a:spcAft>
            </a:pPr>
            <a:r>
              <a:rPr sz="1500" b="1">
                <a:solidFill>
                  <a:srgbClr val="111111"/>
                </a:solidFill>
                <a:latin typeface="Segoe UI"/>
              </a:rPr>
              <a:t>Más de 1.400 pruebas automáticas  ·  97 % de cobertura del código  ·  las siete verificaciones en verde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36576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F26B1D"/>
                </a:solidFill>
                <a:latin typeface="Segoe UI"/>
              </a:rPr>
              <a:t>QUÉ SE LOGRÓ</a:t>
            </a:r>
          </a:p>
        </p:txBody>
      </p:sp>
      <p:sp>
        <p:nvSpPr>
          <p:cNvPr id="4" name="TextBox 3"/>
          <p:cNvSpPr txBox="1"/>
          <p:nvPr/>
        </p:nvSpPr>
        <p:spPr>
          <a:xfrm>
            <a:off x="640080" y="731520"/>
            <a:ext cx="10789920" cy="822960"/>
          </a:xfrm>
          <a:prstGeom prst="rect">
            <a:avLst/>
          </a:prstGeom>
          <a:noFill/>
        </p:spPr>
        <p:txBody>
          <a:bodyPr wrap="square" lIns="45720" tIns="18288" rIns="45720" bIns="18288" anchor="t">
            <a:spAutoFit/>
          </a:bodyPr>
          <a:lstStyle/>
          <a:p>
            <a:pPr algn="l">
              <a:lnSpc>
                <a:spcPct val="115000"/>
              </a:lnSpc>
              <a:spcAft>
                <a:spcPts val="600"/>
              </a:spcAft>
            </a:pPr>
            <a:r>
              <a:rPr sz="3400" b="0">
                <a:solidFill>
                  <a:srgbClr val="111111"/>
                </a:solidFill>
                <a:latin typeface="Segoe UI Semibold"/>
              </a:rPr>
              <a:t>Resultados</a:t>
            </a:r>
          </a:p>
        </p:txBody>
      </p:sp>
      <p:sp>
        <p:nvSpPr>
          <p:cNvPr id="5" name="Rectangle 4"/>
          <p:cNvSpPr/>
          <p:nvPr/>
        </p:nvSpPr>
        <p:spPr>
          <a:xfrm>
            <a:off x="640080" y="1572768"/>
            <a:ext cx="108813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355080"/>
            <a:ext cx="108813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00800"/>
            <a:ext cx="5486400" cy="320040"/>
          </a:xfrm>
          <a:prstGeom prst="rect">
            <a:avLst/>
          </a:prstGeom>
          <a:noFill/>
        </p:spPr>
        <p:txBody>
          <a:bodyPr wrap="square" lIns="45720" tIns="18288" rIns="45720" bIns="18288" anchor="t">
            <a:spAutoFit/>
          </a:bodyPr>
          <a:lstStyle/>
          <a:p>
            <a:pPr algn="l">
              <a:lnSpc>
                <a:spcPct val="115000"/>
              </a:lnSpc>
              <a:spcAft>
                <a:spcPts val="600"/>
              </a:spcAft>
            </a:pPr>
            <a:r>
              <a:rPr sz="1000" b="0">
                <a:solidFill>
                  <a:srgbClr val="6E6E6E"/>
                </a:solidFill>
                <a:latin typeface="Segoe UI"/>
              </a:rPr>
              <a:t>Longbox · Trabajo final de grado</a:t>
            </a:r>
          </a:p>
        </p:txBody>
      </p:sp>
      <p:sp>
        <p:nvSpPr>
          <p:cNvPr id="8" name="TextBox 7"/>
          <p:cNvSpPr txBox="1"/>
          <p:nvPr/>
        </p:nvSpPr>
        <p:spPr>
          <a:xfrm>
            <a:off x="6949440" y="6400800"/>
            <a:ext cx="4572000" cy="320040"/>
          </a:xfrm>
          <a:prstGeom prst="rect">
            <a:avLst/>
          </a:prstGeom>
          <a:noFill/>
        </p:spPr>
        <p:txBody>
          <a:bodyPr wrap="square" lIns="45720" tIns="18288" rIns="45720" bIns="18288" anchor="t">
            <a:spAutoFit/>
          </a:bodyPr>
          <a:lstStyle/>
          <a:p>
            <a:pPr algn="r">
              <a:lnSpc>
                <a:spcPct val="115000"/>
              </a:lnSpc>
              <a:spcAft>
                <a:spcPts val="600"/>
              </a:spcAft>
            </a:pPr>
            <a:r>
              <a:rPr sz="1000" b="0">
                <a:solidFill>
                  <a:srgbClr val="6E6E6E"/>
                </a:solidFill>
                <a:latin typeface="Segoe UI"/>
              </a:rPr>
              <a:t>Presentación · 3:45   ·   7 / 10</a:t>
            </a:r>
          </a:p>
        </p:txBody>
      </p:sp>
      <p:sp>
        <p:nvSpPr>
          <p:cNvPr id="9" name="Rectangle 8"/>
          <p:cNvSpPr/>
          <p:nvPr/>
        </p:nvSpPr>
        <p:spPr>
          <a:xfrm>
            <a:off x="640080" y="2029968"/>
            <a:ext cx="109728" cy="10972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1920240"/>
            <a:ext cx="5029200" cy="365760"/>
          </a:xfrm>
          <a:prstGeom prst="rect">
            <a:avLst/>
          </a:prstGeom>
          <a:noFill/>
        </p:spPr>
        <p:txBody>
          <a:bodyPr wrap="square" lIns="45720" tIns="18288" rIns="45720" bIns="18288" anchor="t">
            <a:spAutoFit/>
          </a:bodyPr>
          <a:lstStyle/>
          <a:p>
            <a:pPr algn="l">
              <a:lnSpc>
                <a:spcPct val="115000"/>
              </a:lnSpc>
              <a:spcAft>
                <a:spcPts val="600"/>
              </a:spcAft>
            </a:pPr>
            <a:r>
              <a:rPr sz="1800" b="1">
                <a:solidFill>
                  <a:srgbClr val="111111"/>
                </a:solidFill>
                <a:latin typeface="Segoe UI"/>
              </a:rPr>
              <a:t>Trazabilidad</a:t>
            </a:r>
          </a:p>
        </p:txBody>
      </p:sp>
      <p:sp>
        <p:nvSpPr>
          <p:cNvPr id="11" name="TextBox 10"/>
          <p:cNvSpPr txBox="1"/>
          <p:nvPr/>
        </p:nvSpPr>
        <p:spPr>
          <a:xfrm>
            <a:off x="914400" y="2286000"/>
            <a:ext cx="5029200" cy="731519"/>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Cada contrato verificado tiene una prueba que lo nombra.</a:t>
            </a:r>
          </a:p>
        </p:txBody>
      </p:sp>
      <p:sp>
        <p:nvSpPr>
          <p:cNvPr id="12" name="Rectangle 11"/>
          <p:cNvSpPr/>
          <p:nvPr/>
        </p:nvSpPr>
        <p:spPr>
          <a:xfrm>
            <a:off x="6217920" y="2029968"/>
            <a:ext cx="109728" cy="10972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92240" y="1920240"/>
            <a:ext cx="5029200" cy="365760"/>
          </a:xfrm>
          <a:prstGeom prst="rect">
            <a:avLst/>
          </a:prstGeom>
          <a:noFill/>
        </p:spPr>
        <p:txBody>
          <a:bodyPr wrap="square" lIns="45720" tIns="18288" rIns="45720" bIns="18288" anchor="t">
            <a:spAutoFit/>
          </a:bodyPr>
          <a:lstStyle/>
          <a:p>
            <a:pPr algn="l">
              <a:lnSpc>
                <a:spcPct val="115000"/>
              </a:lnSpc>
              <a:spcAft>
                <a:spcPts val="600"/>
              </a:spcAft>
            </a:pPr>
            <a:r>
              <a:rPr sz="1800" b="1">
                <a:solidFill>
                  <a:srgbClr val="111111"/>
                </a:solidFill>
                <a:latin typeface="Segoe UI"/>
              </a:rPr>
              <a:t>IA con control humano</a:t>
            </a:r>
          </a:p>
        </p:txBody>
      </p:sp>
      <p:sp>
        <p:nvSpPr>
          <p:cNvPr id="14" name="TextBox 13"/>
          <p:cNvSpPr txBox="1"/>
          <p:nvPr/>
        </p:nvSpPr>
        <p:spPr>
          <a:xfrm>
            <a:off x="6492240" y="2286000"/>
            <a:ext cx="5029200" cy="731519"/>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El modelo de lenguaje propone borradores y nunca modifica el catálogo solo.</a:t>
            </a:r>
          </a:p>
        </p:txBody>
      </p:sp>
      <p:sp>
        <p:nvSpPr>
          <p:cNvPr id="15" name="Rectangle 14"/>
          <p:cNvSpPr/>
          <p:nvPr/>
        </p:nvSpPr>
        <p:spPr>
          <a:xfrm>
            <a:off x="640080" y="3355848"/>
            <a:ext cx="109728" cy="10972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246120"/>
            <a:ext cx="5029200" cy="365760"/>
          </a:xfrm>
          <a:prstGeom prst="rect">
            <a:avLst/>
          </a:prstGeom>
          <a:noFill/>
        </p:spPr>
        <p:txBody>
          <a:bodyPr wrap="square" lIns="45720" tIns="18288" rIns="45720" bIns="18288" anchor="t">
            <a:spAutoFit/>
          </a:bodyPr>
          <a:lstStyle/>
          <a:p>
            <a:pPr algn="l">
              <a:lnSpc>
                <a:spcPct val="115000"/>
              </a:lnSpc>
              <a:spcAft>
                <a:spcPts val="600"/>
              </a:spcAft>
            </a:pPr>
            <a:r>
              <a:rPr sz="1800" b="1">
                <a:solidFill>
                  <a:srgbClr val="111111"/>
                </a:solidFill>
                <a:latin typeface="Segoe UI"/>
              </a:rPr>
              <a:t>Auditoría inmutable</a:t>
            </a:r>
          </a:p>
        </p:txBody>
      </p:sp>
      <p:sp>
        <p:nvSpPr>
          <p:cNvPr id="17" name="TextBox 16"/>
          <p:cNvSpPr txBox="1"/>
          <p:nvPr/>
        </p:nvSpPr>
        <p:spPr>
          <a:xfrm>
            <a:off x="914400" y="3611879"/>
            <a:ext cx="5029200" cy="731519"/>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Cada operación queda registrada y el registro no se puede alterar.</a:t>
            </a:r>
          </a:p>
        </p:txBody>
      </p:sp>
      <p:sp>
        <p:nvSpPr>
          <p:cNvPr id="18" name="Rectangle 17"/>
          <p:cNvSpPr/>
          <p:nvPr/>
        </p:nvSpPr>
        <p:spPr>
          <a:xfrm>
            <a:off x="6217920" y="3355848"/>
            <a:ext cx="109728" cy="10972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92240" y="3246120"/>
            <a:ext cx="5029200" cy="365760"/>
          </a:xfrm>
          <a:prstGeom prst="rect">
            <a:avLst/>
          </a:prstGeom>
          <a:noFill/>
        </p:spPr>
        <p:txBody>
          <a:bodyPr wrap="square" lIns="45720" tIns="18288" rIns="45720" bIns="18288" anchor="t">
            <a:spAutoFit/>
          </a:bodyPr>
          <a:lstStyle/>
          <a:p>
            <a:pPr algn="l">
              <a:lnSpc>
                <a:spcPct val="115000"/>
              </a:lnSpc>
              <a:spcAft>
                <a:spcPts val="600"/>
              </a:spcAft>
            </a:pPr>
            <a:r>
              <a:rPr sz="1800" b="1">
                <a:solidFill>
                  <a:srgbClr val="111111"/>
                </a:solidFill>
                <a:latin typeface="Segoe UI"/>
              </a:rPr>
              <a:t>Seguridad por rol</a:t>
            </a:r>
          </a:p>
        </p:txBody>
      </p:sp>
      <p:sp>
        <p:nvSpPr>
          <p:cNvPr id="20" name="TextBox 19"/>
          <p:cNvSpPr txBox="1"/>
          <p:nvPr/>
        </p:nvSpPr>
        <p:spPr>
          <a:xfrm>
            <a:off x="6492240" y="3611879"/>
            <a:ext cx="5029200" cy="731519"/>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El acceso se valida en el servidor, no sólo en la pantalla.</a:t>
            </a:r>
          </a:p>
        </p:txBody>
      </p:sp>
      <p:sp>
        <p:nvSpPr>
          <p:cNvPr id="21" name="Rectangle 20"/>
          <p:cNvSpPr/>
          <p:nvPr/>
        </p:nvSpPr>
        <p:spPr>
          <a:xfrm>
            <a:off x="640080" y="4681728"/>
            <a:ext cx="109728" cy="10972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572000"/>
            <a:ext cx="5029200" cy="365760"/>
          </a:xfrm>
          <a:prstGeom prst="rect">
            <a:avLst/>
          </a:prstGeom>
          <a:noFill/>
        </p:spPr>
        <p:txBody>
          <a:bodyPr wrap="square" lIns="45720" tIns="18288" rIns="45720" bIns="18288" anchor="t">
            <a:spAutoFit/>
          </a:bodyPr>
          <a:lstStyle/>
          <a:p>
            <a:pPr algn="l">
              <a:lnSpc>
                <a:spcPct val="115000"/>
              </a:lnSpc>
              <a:spcAft>
                <a:spcPts val="600"/>
              </a:spcAft>
            </a:pPr>
            <a:r>
              <a:rPr sz="1800" b="1">
                <a:solidFill>
                  <a:srgbClr val="111111"/>
                </a:solidFill>
                <a:latin typeface="Segoe UI"/>
              </a:rPr>
              <a:t>Precios exactos</a:t>
            </a:r>
          </a:p>
        </p:txBody>
      </p:sp>
      <p:sp>
        <p:nvSpPr>
          <p:cNvPr id="23" name="TextBox 22"/>
          <p:cNvSpPr txBox="1"/>
          <p:nvPr/>
        </p:nvSpPr>
        <p:spPr>
          <a:xfrm>
            <a:off x="914400" y="4937760"/>
            <a:ext cx="5029200" cy="731519"/>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El cálculo de importados usa aritmética decimal, sin errores de redondeo.</a:t>
            </a:r>
          </a:p>
        </p:txBody>
      </p:sp>
      <p:sp>
        <p:nvSpPr>
          <p:cNvPr id="24" name="Rectangle 23"/>
          <p:cNvSpPr/>
          <p:nvPr/>
        </p:nvSpPr>
        <p:spPr>
          <a:xfrm>
            <a:off x="6217920" y="4681728"/>
            <a:ext cx="109728" cy="109728"/>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92240" y="4572000"/>
            <a:ext cx="5029200" cy="365760"/>
          </a:xfrm>
          <a:prstGeom prst="rect">
            <a:avLst/>
          </a:prstGeom>
          <a:noFill/>
        </p:spPr>
        <p:txBody>
          <a:bodyPr wrap="square" lIns="45720" tIns="18288" rIns="45720" bIns="18288" anchor="t">
            <a:spAutoFit/>
          </a:bodyPr>
          <a:lstStyle/>
          <a:p>
            <a:pPr algn="l">
              <a:lnSpc>
                <a:spcPct val="115000"/>
              </a:lnSpc>
              <a:spcAft>
                <a:spcPts val="600"/>
              </a:spcAft>
            </a:pPr>
            <a:r>
              <a:rPr sz="1800" b="1">
                <a:solidFill>
                  <a:srgbClr val="111111"/>
                </a:solidFill>
                <a:latin typeface="Segoe UI"/>
              </a:rPr>
              <a:t>En línea</a:t>
            </a:r>
          </a:p>
        </p:txBody>
      </p:sp>
      <p:sp>
        <p:nvSpPr>
          <p:cNvPr id="26" name="TextBox 25"/>
          <p:cNvSpPr txBox="1"/>
          <p:nvPr/>
        </p:nvSpPr>
        <p:spPr>
          <a:xfrm>
            <a:off x="6492240" y="4937760"/>
            <a:ext cx="5029200" cy="731519"/>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El sistema está publicado con HTTPS para esta demostración.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36576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F26B1D"/>
                </a:solidFill>
                <a:latin typeface="Segoe UI"/>
              </a:rPr>
              <a:t>QUÉ FALTA</a:t>
            </a:r>
          </a:p>
        </p:txBody>
      </p:sp>
      <p:sp>
        <p:nvSpPr>
          <p:cNvPr id="4" name="TextBox 3"/>
          <p:cNvSpPr txBox="1"/>
          <p:nvPr/>
        </p:nvSpPr>
        <p:spPr>
          <a:xfrm>
            <a:off x="640080" y="731520"/>
            <a:ext cx="10789920" cy="822960"/>
          </a:xfrm>
          <a:prstGeom prst="rect">
            <a:avLst/>
          </a:prstGeom>
          <a:noFill/>
        </p:spPr>
        <p:txBody>
          <a:bodyPr wrap="square" lIns="45720" tIns="18288" rIns="45720" bIns="18288" anchor="t">
            <a:spAutoFit/>
          </a:bodyPr>
          <a:lstStyle/>
          <a:p>
            <a:pPr algn="l">
              <a:lnSpc>
                <a:spcPct val="115000"/>
              </a:lnSpc>
              <a:spcAft>
                <a:spcPts val="600"/>
              </a:spcAft>
            </a:pPr>
            <a:r>
              <a:rPr sz="3400" b="0">
                <a:solidFill>
                  <a:srgbClr val="111111"/>
                </a:solidFill>
                <a:latin typeface="Segoe UI Semibold"/>
              </a:rPr>
              <a:t>Próximas etapas</a:t>
            </a:r>
          </a:p>
        </p:txBody>
      </p:sp>
      <p:sp>
        <p:nvSpPr>
          <p:cNvPr id="5" name="Rectangle 4"/>
          <p:cNvSpPr/>
          <p:nvPr/>
        </p:nvSpPr>
        <p:spPr>
          <a:xfrm>
            <a:off x="640080" y="1572768"/>
            <a:ext cx="108813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355080"/>
            <a:ext cx="108813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00800"/>
            <a:ext cx="5486400" cy="320040"/>
          </a:xfrm>
          <a:prstGeom prst="rect">
            <a:avLst/>
          </a:prstGeom>
          <a:noFill/>
        </p:spPr>
        <p:txBody>
          <a:bodyPr wrap="square" lIns="45720" tIns="18288" rIns="45720" bIns="18288" anchor="t">
            <a:spAutoFit/>
          </a:bodyPr>
          <a:lstStyle/>
          <a:p>
            <a:pPr algn="l">
              <a:lnSpc>
                <a:spcPct val="115000"/>
              </a:lnSpc>
              <a:spcAft>
                <a:spcPts val="600"/>
              </a:spcAft>
            </a:pPr>
            <a:r>
              <a:rPr sz="1000" b="0">
                <a:solidFill>
                  <a:srgbClr val="6E6E6E"/>
                </a:solidFill>
                <a:latin typeface="Segoe UI"/>
              </a:rPr>
              <a:t>Longbox · Trabajo final de grado</a:t>
            </a:r>
          </a:p>
        </p:txBody>
      </p:sp>
      <p:sp>
        <p:nvSpPr>
          <p:cNvPr id="8" name="TextBox 7"/>
          <p:cNvSpPr txBox="1"/>
          <p:nvPr/>
        </p:nvSpPr>
        <p:spPr>
          <a:xfrm>
            <a:off x="6949440" y="6400800"/>
            <a:ext cx="4572000" cy="320040"/>
          </a:xfrm>
          <a:prstGeom prst="rect">
            <a:avLst/>
          </a:prstGeom>
          <a:noFill/>
        </p:spPr>
        <p:txBody>
          <a:bodyPr wrap="square" lIns="45720" tIns="18288" rIns="45720" bIns="18288" anchor="t">
            <a:spAutoFit/>
          </a:bodyPr>
          <a:lstStyle/>
          <a:p>
            <a:pPr algn="r">
              <a:lnSpc>
                <a:spcPct val="115000"/>
              </a:lnSpc>
              <a:spcAft>
                <a:spcPts val="600"/>
              </a:spcAft>
            </a:pPr>
            <a:r>
              <a:rPr sz="1000" b="0">
                <a:solidFill>
                  <a:srgbClr val="6E6E6E"/>
                </a:solidFill>
                <a:latin typeface="Segoe UI"/>
              </a:rPr>
              <a:t>Presentación · 4:20   ·   8 / 10</a:t>
            </a:r>
          </a:p>
        </p:txBody>
      </p:sp>
      <p:sp>
        <p:nvSpPr>
          <p:cNvPr id="9" name="Rectangle 8"/>
          <p:cNvSpPr/>
          <p:nvPr/>
        </p:nvSpPr>
        <p:spPr>
          <a:xfrm>
            <a:off x="640080" y="1874519"/>
            <a:ext cx="685800" cy="86868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874519"/>
            <a:ext cx="685800" cy="868680"/>
          </a:xfrm>
          <a:prstGeom prst="rect">
            <a:avLst/>
          </a:prstGeom>
          <a:noFill/>
        </p:spPr>
        <p:txBody>
          <a:bodyPr wrap="square" lIns="45720" tIns="18288" rIns="45720" bIns="18288" anchor="ctr">
            <a:spAutoFit/>
          </a:bodyPr>
          <a:lstStyle/>
          <a:p>
            <a:pPr algn="ctr">
              <a:lnSpc>
                <a:spcPct val="115000"/>
              </a:lnSpc>
              <a:spcAft>
                <a:spcPts val="600"/>
              </a:spcAft>
            </a:pPr>
            <a:r>
              <a:rPr sz="2600" b="0">
                <a:solidFill>
                  <a:srgbClr val="FFFFFF"/>
                </a:solidFill>
                <a:latin typeface="Segoe UI Semibold"/>
              </a:rPr>
              <a:t>1</a:t>
            </a:r>
          </a:p>
        </p:txBody>
      </p:sp>
      <p:sp>
        <p:nvSpPr>
          <p:cNvPr id="11" name="TextBox 10"/>
          <p:cNvSpPr txBox="1"/>
          <p:nvPr/>
        </p:nvSpPr>
        <p:spPr>
          <a:xfrm>
            <a:off x="1554480" y="1920239"/>
            <a:ext cx="9875520" cy="411480"/>
          </a:xfrm>
          <a:prstGeom prst="rect">
            <a:avLst/>
          </a:prstGeom>
          <a:noFill/>
        </p:spPr>
        <p:txBody>
          <a:bodyPr wrap="square" lIns="45720" tIns="18288" rIns="45720" bIns="18288" anchor="t">
            <a:spAutoFit/>
          </a:bodyPr>
          <a:lstStyle/>
          <a:p>
            <a:pPr algn="l">
              <a:lnSpc>
                <a:spcPct val="115000"/>
              </a:lnSpc>
              <a:spcAft>
                <a:spcPts val="600"/>
              </a:spcAft>
            </a:pPr>
            <a:r>
              <a:rPr sz="1900" b="1">
                <a:solidFill>
                  <a:srgbClr val="111111"/>
                </a:solidFill>
                <a:latin typeface="Segoe UI"/>
              </a:rPr>
              <a:t>Cadena comercial</a:t>
            </a:r>
          </a:p>
        </p:txBody>
      </p:sp>
      <p:sp>
        <p:nvSpPr>
          <p:cNvPr id="12" name="TextBox 11"/>
          <p:cNvSpPr txBox="1"/>
          <p:nvPr/>
        </p:nvSpPr>
        <p:spPr>
          <a:xfrm>
            <a:off x="1554480" y="2331720"/>
            <a:ext cx="9875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Tienda online, carrito, compra con pago y pedidos. El pedido es la base de lo que sigue.</a:t>
            </a:r>
          </a:p>
        </p:txBody>
      </p:sp>
      <p:sp>
        <p:nvSpPr>
          <p:cNvPr id="13" name="Rectangle 12"/>
          <p:cNvSpPr/>
          <p:nvPr/>
        </p:nvSpPr>
        <p:spPr>
          <a:xfrm>
            <a:off x="640080" y="2953511"/>
            <a:ext cx="685800" cy="8686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2953511"/>
            <a:ext cx="685800" cy="868680"/>
          </a:xfrm>
          <a:prstGeom prst="rect">
            <a:avLst/>
          </a:prstGeom>
          <a:noFill/>
        </p:spPr>
        <p:txBody>
          <a:bodyPr wrap="square" lIns="45720" tIns="18288" rIns="45720" bIns="18288" anchor="ctr">
            <a:spAutoFit/>
          </a:bodyPr>
          <a:lstStyle/>
          <a:p>
            <a:pPr algn="ctr">
              <a:lnSpc>
                <a:spcPct val="115000"/>
              </a:lnSpc>
              <a:spcAft>
                <a:spcPts val="600"/>
              </a:spcAft>
            </a:pPr>
            <a:r>
              <a:rPr sz="2600" b="0">
                <a:solidFill>
                  <a:srgbClr val="FFFFFF"/>
                </a:solidFill>
                <a:latin typeface="Segoe UI Semibold"/>
              </a:rPr>
              <a:t>2</a:t>
            </a:r>
          </a:p>
        </p:txBody>
      </p:sp>
      <p:sp>
        <p:nvSpPr>
          <p:cNvPr id="15" name="TextBox 14"/>
          <p:cNvSpPr txBox="1"/>
          <p:nvPr/>
        </p:nvSpPr>
        <p:spPr>
          <a:xfrm>
            <a:off x="1554480" y="2999231"/>
            <a:ext cx="9875520" cy="411480"/>
          </a:xfrm>
          <a:prstGeom prst="rect">
            <a:avLst/>
          </a:prstGeom>
          <a:noFill/>
        </p:spPr>
        <p:txBody>
          <a:bodyPr wrap="square" lIns="45720" tIns="18288" rIns="45720" bIns="18288" anchor="t">
            <a:spAutoFit/>
          </a:bodyPr>
          <a:lstStyle/>
          <a:p>
            <a:pPr algn="l">
              <a:lnSpc>
                <a:spcPct val="115000"/>
              </a:lnSpc>
              <a:spcAft>
                <a:spcPts val="600"/>
              </a:spcAft>
            </a:pPr>
            <a:r>
              <a:rPr sz="1900" b="1">
                <a:solidFill>
                  <a:srgbClr val="111111"/>
                </a:solidFill>
                <a:latin typeface="Segoe UI"/>
              </a:rPr>
              <a:t>Operación del local</a:t>
            </a:r>
          </a:p>
        </p:txBody>
      </p:sp>
      <p:sp>
        <p:nvSpPr>
          <p:cNvPr id="16" name="TextBox 15"/>
          <p:cNvSpPr txBox="1"/>
          <p:nvPr/>
        </p:nvSpPr>
        <p:spPr>
          <a:xfrm>
            <a:off x="1554480" y="3410711"/>
            <a:ext cx="9875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Caja, programa de puntos, devoluciones y stock guardado para clientes.</a:t>
            </a:r>
          </a:p>
        </p:txBody>
      </p:sp>
      <p:sp>
        <p:nvSpPr>
          <p:cNvPr id="17" name="Rectangle 16"/>
          <p:cNvSpPr/>
          <p:nvPr/>
        </p:nvSpPr>
        <p:spPr>
          <a:xfrm>
            <a:off x="640080" y="4032504"/>
            <a:ext cx="685800" cy="8686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032504"/>
            <a:ext cx="685800" cy="868680"/>
          </a:xfrm>
          <a:prstGeom prst="rect">
            <a:avLst/>
          </a:prstGeom>
          <a:noFill/>
        </p:spPr>
        <p:txBody>
          <a:bodyPr wrap="square" lIns="45720" tIns="18288" rIns="45720" bIns="18288" anchor="ctr">
            <a:spAutoFit/>
          </a:bodyPr>
          <a:lstStyle/>
          <a:p>
            <a:pPr algn="ctr">
              <a:lnSpc>
                <a:spcPct val="115000"/>
              </a:lnSpc>
              <a:spcAft>
                <a:spcPts val="600"/>
              </a:spcAft>
            </a:pPr>
            <a:r>
              <a:rPr sz="2600" b="0">
                <a:solidFill>
                  <a:srgbClr val="FFFFFF"/>
                </a:solidFill>
                <a:latin typeface="Segoe UI Semibold"/>
              </a:rPr>
              <a:t>3</a:t>
            </a:r>
          </a:p>
        </p:txBody>
      </p:sp>
      <p:sp>
        <p:nvSpPr>
          <p:cNvPr id="19" name="TextBox 18"/>
          <p:cNvSpPr txBox="1"/>
          <p:nvPr/>
        </p:nvSpPr>
        <p:spPr>
          <a:xfrm>
            <a:off x="1554480" y="4078224"/>
            <a:ext cx="9875520" cy="411480"/>
          </a:xfrm>
          <a:prstGeom prst="rect">
            <a:avLst/>
          </a:prstGeom>
          <a:noFill/>
        </p:spPr>
        <p:txBody>
          <a:bodyPr wrap="square" lIns="45720" tIns="18288" rIns="45720" bIns="18288" anchor="t">
            <a:spAutoFit/>
          </a:bodyPr>
          <a:lstStyle/>
          <a:p>
            <a:pPr algn="l">
              <a:lnSpc>
                <a:spcPct val="115000"/>
              </a:lnSpc>
              <a:spcAft>
                <a:spcPts val="600"/>
              </a:spcAft>
            </a:pPr>
            <a:r>
              <a:rPr sz="1900" b="1">
                <a:solidFill>
                  <a:srgbClr val="111111"/>
                </a:solidFill>
                <a:latin typeface="Segoe UI"/>
              </a:rPr>
              <a:t>Procesos automáticos</a:t>
            </a:r>
          </a:p>
        </p:txBody>
      </p:sp>
      <p:sp>
        <p:nvSpPr>
          <p:cNvPr id="20" name="TextBox 19"/>
          <p:cNvSpPr txBox="1"/>
          <p:nvPr/>
        </p:nvSpPr>
        <p:spPr>
          <a:xfrm>
            <a:off x="1554480" y="4489704"/>
            <a:ext cx="9875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Vencimientos y avisos que el sistema ejecuta solo, cada cierto tiempo.</a:t>
            </a:r>
          </a:p>
        </p:txBody>
      </p:sp>
      <p:sp>
        <p:nvSpPr>
          <p:cNvPr id="21" name="Rectangle 20"/>
          <p:cNvSpPr/>
          <p:nvPr/>
        </p:nvSpPr>
        <p:spPr>
          <a:xfrm>
            <a:off x="640080" y="5111496"/>
            <a:ext cx="685800" cy="86868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 y="5111496"/>
            <a:ext cx="685800" cy="868680"/>
          </a:xfrm>
          <a:prstGeom prst="rect">
            <a:avLst/>
          </a:prstGeom>
          <a:noFill/>
        </p:spPr>
        <p:txBody>
          <a:bodyPr wrap="square" lIns="45720" tIns="18288" rIns="45720" bIns="18288" anchor="ctr">
            <a:spAutoFit/>
          </a:bodyPr>
          <a:lstStyle/>
          <a:p>
            <a:pPr algn="ctr">
              <a:lnSpc>
                <a:spcPct val="115000"/>
              </a:lnSpc>
              <a:spcAft>
                <a:spcPts val="600"/>
              </a:spcAft>
            </a:pPr>
            <a:r>
              <a:rPr sz="2600" b="0">
                <a:solidFill>
                  <a:srgbClr val="FFFFFF"/>
                </a:solidFill>
                <a:latin typeface="Segoe UI Semibold"/>
              </a:rPr>
              <a:t>4</a:t>
            </a:r>
          </a:p>
        </p:txBody>
      </p:sp>
      <p:sp>
        <p:nvSpPr>
          <p:cNvPr id="23" name="TextBox 22"/>
          <p:cNvSpPr txBox="1"/>
          <p:nvPr/>
        </p:nvSpPr>
        <p:spPr>
          <a:xfrm>
            <a:off x="1554480" y="5157216"/>
            <a:ext cx="9875520" cy="411480"/>
          </a:xfrm>
          <a:prstGeom prst="rect">
            <a:avLst/>
          </a:prstGeom>
          <a:noFill/>
        </p:spPr>
        <p:txBody>
          <a:bodyPr wrap="square" lIns="45720" tIns="18288" rIns="45720" bIns="18288" anchor="t">
            <a:spAutoFit/>
          </a:bodyPr>
          <a:lstStyle/>
          <a:p>
            <a:pPr algn="l">
              <a:lnSpc>
                <a:spcPct val="115000"/>
              </a:lnSpc>
              <a:spcAft>
                <a:spcPts val="600"/>
              </a:spcAft>
            </a:pPr>
            <a:r>
              <a:rPr sz="1900" b="1">
                <a:solidFill>
                  <a:srgbClr val="111111"/>
                </a:solidFill>
                <a:latin typeface="Segoe UI"/>
              </a:rPr>
              <a:t>Completar catálogo y precios</a:t>
            </a:r>
          </a:p>
        </p:txBody>
      </p:sp>
      <p:sp>
        <p:nvSpPr>
          <p:cNvPr id="24" name="TextBox 23"/>
          <p:cNvSpPr txBox="1"/>
          <p:nvPr/>
        </p:nvSpPr>
        <p:spPr>
          <a:xfrm>
            <a:off x="1554480" y="5568696"/>
            <a:ext cx="9875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Bajas con informe de impacto y propagación de precios a los productos.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411480"/>
            <a:ext cx="7315200" cy="365760"/>
          </a:xfrm>
          <a:prstGeom prst="rect">
            <a:avLst/>
          </a:prstGeom>
          <a:noFill/>
        </p:spPr>
        <p:txBody>
          <a:bodyPr wrap="square" lIns="45720" tIns="18288" rIns="45720" bIns="18288" anchor="t">
            <a:spAutoFit/>
          </a:bodyPr>
          <a:lstStyle/>
          <a:p>
            <a:pPr algn="l">
              <a:lnSpc>
                <a:spcPct val="115000"/>
              </a:lnSpc>
              <a:spcAft>
                <a:spcPts val="600"/>
              </a:spcAft>
            </a:pPr>
            <a:r>
              <a:rPr sz="1300" b="1">
                <a:solidFill>
                  <a:srgbClr val="F26B1D"/>
                </a:solidFill>
                <a:latin typeface="Segoe UI"/>
              </a:rPr>
              <a:t>DEMOSTRACIÓN</a:t>
            </a:r>
          </a:p>
        </p:txBody>
      </p:sp>
      <p:sp>
        <p:nvSpPr>
          <p:cNvPr id="4" name="TextBox 3"/>
          <p:cNvSpPr txBox="1"/>
          <p:nvPr/>
        </p:nvSpPr>
        <p:spPr>
          <a:xfrm>
            <a:off x="640080" y="731520"/>
            <a:ext cx="10789920" cy="822960"/>
          </a:xfrm>
          <a:prstGeom prst="rect">
            <a:avLst/>
          </a:prstGeom>
          <a:noFill/>
        </p:spPr>
        <p:txBody>
          <a:bodyPr wrap="square" lIns="45720" tIns="18288" rIns="45720" bIns="18288" anchor="t">
            <a:spAutoFit/>
          </a:bodyPr>
          <a:lstStyle/>
          <a:p>
            <a:pPr algn="l">
              <a:lnSpc>
                <a:spcPct val="115000"/>
              </a:lnSpc>
              <a:spcAft>
                <a:spcPts val="600"/>
              </a:spcAft>
            </a:pPr>
            <a:r>
              <a:rPr sz="3400" b="0">
                <a:solidFill>
                  <a:srgbClr val="111111"/>
                </a:solidFill>
                <a:latin typeface="Segoe UI Semibold"/>
              </a:rPr>
              <a:t>Recorrido del sistema</a:t>
            </a:r>
          </a:p>
        </p:txBody>
      </p:sp>
      <p:sp>
        <p:nvSpPr>
          <p:cNvPr id="5" name="Rectangle 4"/>
          <p:cNvSpPr/>
          <p:nvPr/>
        </p:nvSpPr>
        <p:spPr>
          <a:xfrm>
            <a:off x="640080" y="1572768"/>
            <a:ext cx="10881360" cy="182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6355080"/>
            <a:ext cx="10881360" cy="91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6400800"/>
            <a:ext cx="5486400" cy="320040"/>
          </a:xfrm>
          <a:prstGeom prst="rect">
            <a:avLst/>
          </a:prstGeom>
          <a:noFill/>
        </p:spPr>
        <p:txBody>
          <a:bodyPr wrap="square" lIns="45720" tIns="18288" rIns="45720" bIns="18288" anchor="t">
            <a:spAutoFit/>
          </a:bodyPr>
          <a:lstStyle/>
          <a:p>
            <a:pPr algn="l">
              <a:lnSpc>
                <a:spcPct val="115000"/>
              </a:lnSpc>
              <a:spcAft>
                <a:spcPts val="600"/>
              </a:spcAft>
            </a:pPr>
            <a:r>
              <a:rPr sz="1000" b="0">
                <a:solidFill>
                  <a:srgbClr val="6E6E6E"/>
                </a:solidFill>
                <a:latin typeface="Segoe UI"/>
              </a:rPr>
              <a:t>Longbox · Trabajo final de grado</a:t>
            </a:r>
          </a:p>
        </p:txBody>
      </p:sp>
      <p:sp>
        <p:nvSpPr>
          <p:cNvPr id="8" name="TextBox 7"/>
          <p:cNvSpPr txBox="1"/>
          <p:nvPr/>
        </p:nvSpPr>
        <p:spPr>
          <a:xfrm>
            <a:off x="6949440" y="6400800"/>
            <a:ext cx="4572000" cy="320040"/>
          </a:xfrm>
          <a:prstGeom prst="rect">
            <a:avLst/>
          </a:prstGeom>
          <a:noFill/>
        </p:spPr>
        <p:txBody>
          <a:bodyPr wrap="square" lIns="45720" tIns="18288" rIns="45720" bIns="18288" anchor="t">
            <a:spAutoFit/>
          </a:bodyPr>
          <a:lstStyle/>
          <a:p>
            <a:pPr algn="r">
              <a:lnSpc>
                <a:spcPct val="115000"/>
              </a:lnSpc>
              <a:spcAft>
                <a:spcPts val="600"/>
              </a:spcAft>
            </a:pPr>
            <a:r>
              <a:rPr sz="1000" b="0">
                <a:solidFill>
                  <a:srgbClr val="6E6E6E"/>
                </a:solidFill>
                <a:latin typeface="Segoe UI"/>
              </a:rPr>
              <a:t>Demostración · 5:00   ·   9 / 10</a:t>
            </a:r>
          </a:p>
        </p:txBody>
      </p:sp>
      <p:sp>
        <p:nvSpPr>
          <p:cNvPr id="9" name="TextBox 8"/>
          <p:cNvSpPr txBox="1"/>
          <p:nvPr/>
        </p:nvSpPr>
        <p:spPr>
          <a:xfrm>
            <a:off x="640080" y="1874519"/>
            <a:ext cx="822960" cy="365760"/>
          </a:xfrm>
          <a:prstGeom prst="rect">
            <a:avLst/>
          </a:prstGeom>
          <a:noFill/>
        </p:spPr>
        <p:txBody>
          <a:bodyPr wrap="square" lIns="45720" tIns="18288" rIns="45720" bIns="18288" anchor="t">
            <a:spAutoFit/>
          </a:bodyPr>
          <a:lstStyle/>
          <a:p>
            <a:pPr algn="l">
              <a:lnSpc>
                <a:spcPct val="115000"/>
              </a:lnSpc>
              <a:spcAft>
                <a:spcPts val="600"/>
              </a:spcAft>
            </a:pPr>
            <a:r>
              <a:rPr sz="1400" b="1">
                <a:solidFill>
                  <a:srgbClr val="F26B1D"/>
                </a:solidFill>
                <a:latin typeface="Segoe UI"/>
              </a:rPr>
              <a:t>0:00</a:t>
            </a:r>
          </a:p>
        </p:txBody>
      </p:sp>
      <p:sp>
        <p:nvSpPr>
          <p:cNvPr id="10" name="Rectangle 9"/>
          <p:cNvSpPr/>
          <p:nvPr/>
        </p:nvSpPr>
        <p:spPr>
          <a:xfrm>
            <a:off x="1600200" y="1956816"/>
            <a:ext cx="128016" cy="12801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655064" y="2121408"/>
            <a:ext cx="18288" cy="5669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965960" y="1828800"/>
            <a:ext cx="4206240" cy="36576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Inicio de sesión y panel</a:t>
            </a:r>
          </a:p>
        </p:txBody>
      </p:sp>
      <p:sp>
        <p:nvSpPr>
          <p:cNvPr id="13" name="TextBox 12"/>
          <p:cNvSpPr txBox="1"/>
          <p:nvPr/>
        </p:nvSpPr>
        <p:spPr>
          <a:xfrm>
            <a:off x="6217920" y="1856231"/>
            <a:ext cx="5303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Administrador. Cifras y actividad reciente.</a:t>
            </a:r>
          </a:p>
        </p:txBody>
      </p:sp>
      <p:sp>
        <p:nvSpPr>
          <p:cNvPr id="14" name="TextBox 13"/>
          <p:cNvSpPr txBox="1"/>
          <p:nvPr/>
        </p:nvSpPr>
        <p:spPr>
          <a:xfrm>
            <a:off x="640080" y="2587752"/>
            <a:ext cx="822960" cy="365760"/>
          </a:xfrm>
          <a:prstGeom prst="rect">
            <a:avLst/>
          </a:prstGeom>
          <a:noFill/>
        </p:spPr>
        <p:txBody>
          <a:bodyPr wrap="square" lIns="45720" tIns="18288" rIns="45720" bIns="18288" anchor="t">
            <a:spAutoFit/>
          </a:bodyPr>
          <a:lstStyle/>
          <a:p>
            <a:pPr algn="l">
              <a:lnSpc>
                <a:spcPct val="115000"/>
              </a:lnSpc>
              <a:spcAft>
                <a:spcPts val="600"/>
              </a:spcAft>
            </a:pPr>
            <a:r>
              <a:rPr sz="1400" b="1">
                <a:solidFill>
                  <a:srgbClr val="F26B1D"/>
                </a:solidFill>
                <a:latin typeface="Segoe UI"/>
              </a:rPr>
              <a:t>0:40</a:t>
            </a:r>
          </a:p>
        </p:txBody>
      </p:sp>
      <p:sp>
        <p:nvSpPr>
          <p:cNvPr id="15" name="Rectangle 14"/>
          <p:cNvSpPr/>
          <p:nvPr/>
        </p:nvSpPr>
        <p:spPr>
          <a:xfrm>
            <a:off x="1600200" y="2670048"/>
            <a:ext cx="128016" cy="12801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1655064" y="2834640"/>
            <a:ext cx="18288" cy="5669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965960" y="2542032"/>
            <a:ext cx="4206240" cy="36576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Inventario y ficha de producto</a:t>
            </a:r>
          </a:p>
        </p:txBody>
      </p:sp>
      <p:sp>
        <p:nvSpPr>
          <p:cNvPr id="18" name="TextBox 17"/>
          <p:cNvSpPr txBox="1"/>
          <p:nvPr/>
        </p:nvSpPr>
        <p:spPr>
          <a:xfrm>
            <a:off x="6217920" y="2569464"/>
            <a:ext cx="5303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Filtros, estado, stock y precio.</a:t>
            </a:r>
          </a:p>
        </p:txBody>
      </p:sp>
      <p:sp>
        <p:nvSpPr>
          <p:cNvPr id="19" name="TextBox 18"/>
          <p:cNvSpPr txBox="1"/>
          <p:nvPr/>
        </p:nvSpPr>
        <p:spPr>
          <a:xfrm>
            <a:off x="640080" y="3300984"/>
            <a:ext cx="822960" cy="365760"/>
          </a:xfrm>
          <a:prstGeom prst="rect">
            <a:avLst/>
          </a:prstGeom>
          <a:noFill/>
        </p:spPr>
        <p:txBody>
          <a:bodyPr wrap="square" lIns="45720" tIns="18288" rIns="45720" bIns="18288" anchor="t">
            <a:spAutoFit/>
          </a:bodyPr>
          <a:lstStyle/>
          <a:p>
            <a:pPr algn="l">
              <a:lnSpc>
                <a:spcPct val="115000"/>
              </a:lnSpc>
              <a:spcAft>
                <a:spcPts val="600"/>
              </a:spcAft>
            </a:pPr>
            <a:r>
              <a:rPr sz="1400" b="1">
                <a:solidFill>
                  <a:srgbClr val="F26B1D"/>
                </a:solidFill>
                <a:latin typeface="Segoe UI"/>
              </a:rPr>
              <a:t>1:30</a:t>
            </a:r>
          </a:p>
        </p:txBody>
      </p:sp>
      <p:sp>
        <p:nvSpPr>
          <p:cNvPr id="20" name="Rectangle 19"/>
          <p:cNvSpPr/>
          <p:nvPr/>
        </p:nvSpPr>
        <p:spPr>
          <a:xfrm>
            <a:off x="1600200" y="3383280"/>
            <a:ext cx="128016" cy="12801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655064" y="3547872"/>
            <a:ext cx="18288" cy="5669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965960" y="3255264"/>
            <a:ext cx="4206240" cy="36576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Alta de un lote nacional</a:t>
            </a:r>
          </a:p>
        </p:txBody>
      </p:sp>
      <p:sp>
        <p:nvSpPr>
          <p:cNvPr id="23" name="TextBox 22"/>
          <p:cNvSpPr txBox="1"/>
          <p:nvPr/>
        </p:nvSpPr>
        <p:spPr>
          <a:xfrm>
            <a:off x="6217920" y="3282696"/>
            <a:ext cx="5303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El precio sale de la tabla de referencia.</a:t>
            </a:r>
          </a:p>
        </p:txBody>
      </p:sp>
      <p:sp>
        <p:nvSpPr>
          <p:cNvPr id="24" name="TextBox 23"/>
          <p:cNvSpPr txBox="1"/>
          <p:nvPr/>
        </p:nvSpPr>
        <p:spPr>
          <a:xfrm>
            <a:off x="640080" y="4014215"/>
            <a:ext cx="822960" cy="365760"/>
          </a:xfrm>
          <a:prstGeom prst="rect">
            <a:avLst/>
          </a:prstGeom>
          <a:noFill/>
        </p:spPr>
        <p:txBody>
          <a:bodyPr wrap="square" lIns="45720" tIns="18288" rIns="45720" bIns="18288" anchor="t">
            <a:spAutoFit/>
          </a:bodyPr>
          <a:lstStyle/>
          <a:p>
            <a:pPr algn="l">
              <a:lnSpc>
                <a:spcPct val="115000"/>
              </a:lnSpc>
              <a:spcAft>
                <a:spcPts val="600"/>
              </a:spcAft>
            </a:pPr>
            <a:r>
              <a:rPr sz="1400" b="1">
                <a:solidFill>
                  <a:srgbClr val="F26B1D"/>
                </a:solidFill>
                <a:latin typeface="Segoe UI"/>
              </a:rPr>
              <a:t>2:30</a:t>
            </a:r>
          </a:p>
        </p:txBody>
      </p:sp>
      <p:sp>
        <p:nvSpPr>
          <p:cNvPr id="25" name="Rectangle 24"/>
          <p:cNvSpPr/>
          <p:nvPr/>
        </p:nvSpPr>
        <p:spPr>
          <a:xfrm>
            <a:off x="1600200" y="4096511"/>
            <a:ext cx="128016" cy="12801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1655064" y="4261104"/>
            <a:ext cx="18288" cy="5669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965960" y="3968496"/>
            <a:ext cx="4206240" cy="36576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Correo de un proveedor</a:t>
            </a:r>
          </a:p>
        </p:txBody>
      </p:sp>
      <p:sp>
        <p:nvSpPr>
          <p:cNvPr id="28" name="TextBox 27"/>
          <p:cNvSpPr txBox="1"/>
          <p:nvPr/>
        </p:nvSpPr>
        <p:spPr>
          <a:xfrm>
            <a:off x="6217920" y="3995928"/>
            <a:ext cx="5303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Contenido extraído y borradores propuestos por el modelo.</a:t>
            </a:r>
          </a:p>
        </p:txBody>
      </p:sp>
      <p:sp>
        <p:nvSpPr>
          <p:cNvPr id="29" name="TextBox 28"/>
          <p:cNvSpPr txBox="1"/>
          <p:nvPr/>
        </p:nvSpPr>
        <p:spPr>
          <a:xfrm>
            <a:off x="640080" y="4727448"/>
            <a:ext cx="822960" cy="365760"/>
          </a:xfrm>
          <a:prstGeom prst="rect">
            <a:avLst/>
          </a:prstGeom>
          <a:noFill/>
        </p:spPr>
        <p:txBody>
          <a:bodyPr wrap="square" lIns="45720" tIns="18288" rIns="45720" bIns="18288" anchor="t">
            <a:spAutoFit/>
          </a:bodyPr>
          <a:lstStyle/>
          <a:p>
            <a:pPr algn="l">
              <a:lnSpc>
                <a:spcPct val="115000"/>
              </a:lnSpc>
              <a:spcAft>
                <a:spcPts val="600"/>
              </a:spcAft>
            </a:pPr>
            <a:r>
              <a:rPr sz="1400" b="1">
                <a:solidFill>
                  <a:srgbClr val="F26B1D"/>
                </a:solidFill>
                <a:latin typeface="Segoe UI"/>
              </a:rPr>
              <a:t>3:30</a:t>
            </a:r>
          </a:p>
        </p:txBody>
      </p:sp>
      <p:sp>
        <p:nvSpPr>
          <p:cNvPr id="30" name="Rectangle 29"/>
          <p:cNvSpPr/>
          <p:nvPr/>
        </p:nvSpPr>
        <p:spPr>
          <a:xfrm>
            <a:off x="1600200" y="4809744"/>
            <a:ext cx="128016" cy="12801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1655064" y="4974336"/>
            <a:ext cx="18288" cy="56692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965960" y="4681728"/>
            <a:ext cx="4206240" cy="36576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Revisión de borradores</a:t>
            </a:r>
          </a:p>
        </p:txBody>
      </p:sp>
      <p:sp>
        <p:nvSpPr>
          <p:cNvPr id="33" name="TextBox 32"/>
          <p:cNvSpPr txBox="1"/>
          <p:nvPr/>
        </p:nvSpPr>
        <p:spPr>
          <a:xfrm>
            <a:off x="6217920" y="4709160"/>
            <a:ext cx="5303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Una persona confirma: recién ahí es producto.</a:t>
            </a:r>
          </a:p>
        </p:txBody>
      </p:sp>
      <p:sp>
        <p:nvSpPr>
          <p:cNvPr id="34" name="TextBox 33"/>
          <p:cNvSpPr txBox="1"/>
          <p:nvPr/>
        </p:nvSpPr>
        <p:spPr>
          <a:xfrm>
            <a:off x="640080" y="5440680"/>
            <a:ext cx="822960" cy="365760"/>
          </a:xfrm>
          <a:prstGeom prst="rect">
            <a:avLst/>
          </a:prstGeom>
          <a:noFill/>
        </p:spPr>
        <p:txBody>
          <a:bodyPr wrap="square" lIns="45720" tIns="18288" rIns="45720" bIns="18288" anchor="t">
            <a:spAutoFit/>
          </a:bodyPr>
          <a:lstStyle/>
          <a:p>
            <a:pPr algn="l">
              <a:lnSpc>
                <a:spcPct val="115000"/>
              </a:lnSpc>
              <a:spcAft>
                <a:spcPts val="600"/>
              </a:spcAft>
            </a:pPr>
            <a:r>
              <a:rPr sz="1400" b="1">
                <a:solidFill>
                  <a:srgbClr val="F26B1D"/>
                </a:solidFill>
                <a:latin typeface="Segoe UI"/>
              </a:rPr>
              <a:t>4:15</a:t>
            </a:r>
          </a:p>
        </p:txBody>
      </p:sp>
      <p:sp>
        <p:nvSpPr>
          <p:cNvPr id="35" name="Rectangle 34"/>
          <p:cNvSpPr/>
          <p:nvPr/>
        </p:nvSpPr>
        <p:spPr>
          <a:xfrm>
            <a:off x="1600200" y="5522976"/>
            <a:ext cx="128016" cy="128016"/>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965960" y="5394960"/>
            <a:ext cx="4206240" cy="365760"/>
          </a:xfrm>
          <a:prstGeom prst="rect">
            <a:avLst/>
          </a:prstGeom>
          <a:noFill/>
        </p:spPr>
        <p:txBody>
          <a:bodyPr wrap="square" lIns="45720" tIns="18288" rIns="45720" bIns="18288" anchor="t">
            <a:spAutoFit/>
          </a:bodyPr>
          <a:lstStyle/>
          <a:p>
            <a:pPr algn="l">
              <a:lnSpc>
                <a:spcPct val="115000"/>
              </a:lnSpc>
              <a:spcAft>
                <a:spcPts val="600"/>
              </a:spcAft>
            </a:pPr>
            <a:r>
              <a:rPr sz="1600" b="1">
                <a:solidFill>
                  <a:srgbClr val="111111"/>
                </a:solidFill>
                <a:latin typeface="Segoe UI"/>
              </a:rPr>
              <a:t>Otros roles</a:t>
            </a:r>
          </a:p>
        </p:txBody>
      </p:sp>
      <p:sp>
        <p:nvSpPr>
          <p:cNvPr id="37" name="TextBox 36"/>
          <p:cNvSpPr txBox="1"/>
          <p:nvPr/>
        </p:nvSpPr>
        <p:spPr>
          <a:xfrm>
            <a:off x="6217920" y="5422392"/>
            <a:ext cx="5303520" cy="457200"/>
          </a:xfrm>
          <a:prstGeom prst="rect">
            <a:avLst/>
          </a:prstGeom>
          <a:noFill/>
        </p:spPr>
        <p:txBody>
          <a:bodyPr wrap="square" lIns="45720" tIns="18288" rIns="45720" bIns="18288" anchor="t">
            <a:spAutoFit/>
          </a:bodyPr>
          <a:lstStyle/>
          <a:p>
            <a:pPr algn="l">
              <a:lnSpc>
                <a:spcPct val="115000"/>
              </a:lnSpc>
              <a:spcAft>
                <a:spcPts val="600"/>
              </a:spcAft>
            </a:pPr>
            <a:r>
              <a:rPr sz="1400" b="0">
                <a:solidFill>
                  <a:srgbClr val="3A3A3A"/>
                </a:solidFill>
                <a:latin typeface="Segoe UI"/>
              </a:rPr>
              <a:t>Cajero y Cliente ven sólo lo suyo.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111"/>
        </a:solidFill>
        <a:effectLst/>
      </p:bgPr>
    </p:bg>
    <p:spTree>
      <p:nvGrpSpPr>
        <p:cNvPr id="1" name=""/>
        <p:cNvGrpSpPr/>
        <p:nvPr/>
      </p:nvGrpSpPr>
      <p:grpSpPr>
        <a:xfrm>
          <a:off x="0" y="0"/>
          <a:ext cx="0" cy="0"/>
          <a:chOff x="0" y="0"/>
          <a:chExt cx="0" cy="0"/>
        </a:xfrm>
      </p:grpSpPr>
      <p:sp>
        <p:nvSpPr>
          <p:cNvPr id="2" name="Rectangle 1"/>
          <p:cNvSpPr/>
          <p:nvPr/>
        </p:nvSpPr>
        <p:spPr>
          <a:xfrm>
            <a:off x="822960" y="2103120"/>
            <a:ext cx="1280160" cy="73152"/>
          </a:xfrm>
          <a:prstGeom prst="rect">
            <a:avLst/>
          </a:prstGeom>
          <a:solidFill>
            <a:srgbClr val="F26B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2331720"/>
            <a:ext cx="10058400" cy="914400"/>
          </a:xfrm>
          <a:prstGeom prst="rect">
            <a:avLst/>
          </a:prstGeom>
          <a:noFill/>
        </p:spPr>
        <p:txBody>
          <a:bodyPr wrap="square" lIns="45720" tIns="18288" rIns="45720" bIns="18288" anchor="t">
            <a:spAutoFit/>
          </a:bodyPr>
          <a:lstStyle/>
          <a:p>
            <a:pPr algn="l">
              <a:lnSpc>
                <a:spcPct val="115000"/>
              </a:lnSpc>
              <a:spcAft>
                <a:spcPts val="600"/>
              </a:spcAft>
            </a:pPr>
            <a:r>
              <a:rPr sz="5400" b="0">
                <a:solidFill>
                  <a:srgbClr val="FFFFFF"/>
                </a:solidFill>
                <a:latin typeface="Segoe UI Semibold"/>
              </a:rPr>
              <a:t>Gracias</a:t>
            </a:r>
          </a:p>
        </p:txBody>
      </p:sp>
      <p:sp>
        <p:nvSpPr>
          <p:cNvPr id="4" name="TextBox 3"/>
          <p:cNvSpPr txBox="1"/>
          <p:nvPr/>
        </p:nvSpPr>
        <p:spPr>
          <a:xfrm>
            <a:off x="822960" y="3337560"/>
            <a:ext cx="10515600" cy="1097280"/>
          </a:xfrm>
          <a:prstGeom prst="rect">
            <a:avLst/>
          </a:prstGeom>
          <a:noFill/>
        </p:spPr>
        <p:txBody>
          <a:bodyPr wrap="square" lIns="45720" tIns="18288" rIns="45720" bIns="18288" anchor="t">
            <a:spAutoFit/>
          </a:bodyPr>
          <a:lstStyle/>
          <a:p>
            <a:pPr algn="l">
              <a:lnSpc>
                <a:spcPct val="115000"/>
              </a:lnSpc>
              <a:spcAft>
                <a:spcPts val="600"/>
              </a:spcAft>
            </a:pPr>
            <a:r>
              <a:rPr sz="2200" b="0">
                <a:solidFill>
                  <a:srgbClr val="D9D9D9"/>
                </a:solidFill>
                <a:latin typeface="Segoe UI"/>
              </a:rPr>
              <a:t>Longbox: un sistema para toda la comiquería, construido y verificado contra su documento de análisis.</a:t>
            </a:r>
          </a:p>
        </p:txBody>
      </p:sp>
      <p:sp>
        <p:nvSpPr>
          <p:cNvPr id="5" name="TextBox 4"/>
          <p:cNvSpPr txBox="1"/>
          <p:nvPr/>
        </p:nvSpPr>
        <p:spPr>
          <a:xfrm>
            <a:off x="822960" y="5120640"/>
            <a:ext cx="10058400" cy="457200"/>
          </a:xfrm>
          <a:prstGeom prst="rect">
            <a:avLst/>
          </a:prstGeom>
          <a:noFill/>
        </p:spPr>
        <p:txBody>
          <a:bodyPr wrap="square" lIns="45720" tIns="18288" rIns="45720" bIns="18288" anchor="t">
            <a:spAutoFit/>
          </a:bodyPr>
          <a:lstStyle/>
          <a:p>
            <a:pPr algn="l">
              <a:lnSpc>
                <a:spcPct val="115000"/>
              </a:lnSpc>
              <a:spcAft>
                <a:spcPts val="600"/>
              </a:spcAft>
            </a:pPr>
            <a:r>
              <a:rPr sz="1800" b="1">
                <a:solidFill>
                  <a:srgbClr val="F26B1D"/>
                </a:solidFill>
                <a:latin typeface="Segoe UI"/>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1992</Words>
  <Application>Microsoft Office PowerPoint</Application>
  <PresentationFormat>Panorámica</PresentationFormat>
  <Paragraphs>250</Paragraphs>
  <Slides>10</Slides>
  <Notes>10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10</vt:i4>
      </vt:variant>
    </vt:vector>
  </HeadingPairs>
  <TitlesOfParts>
    <vt:vector size="15" baseType="lpstr">
      <vt:lpstr>Arial</vt:lpstr>
      <vt:lpstr>Calibri</vt:lpstr>
      <vt:lpstr>Segoe UI</vt:lpstr>
      <vt:lpstr>Segoe UI Semibold</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Mauricio Ezequiel Pulikoski</cp:lastModifiedBy>
  <cp:revision>1</cp:revision>
  <dcterms:created xsi:type="dcterms:W3CDTF">2013-01-27T09:14:16Z</dcterms:created>
  <dcterms:modified xsi:type="dcterms:W3CDTF">2026-09-30T19:47:52Z</dcterms:modified>
  <cp:category/>
</cp:coreProperties>
</file>