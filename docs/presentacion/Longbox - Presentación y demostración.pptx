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Vamos a presentar Longbox, un sistema de gestión para una comiquería.</a:t>
            </a:r>
          </a:p>
          <a:p/>
          <a:p>
            <a:r>
              <a:t>La presentación tiene dos partes de cinco minutos: primero qué es el sistema, qué está hecho y qué falta; después lo mostramos funcionando.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comiquería maneja dos tipos de material: editorial, como manga y cómics, y no editorial, como figuras. El precio de un tomo importado depende del costo, del envío y de la cotización. Los proveedores anuncian novedades por correo. Y hay ventas en el local y online. Hoy eso se lleva con planillas y correos.</a:t>
            </a:r>
          </a:p>
          <a:p/>
          <a:p>
            <a:r>
              <a:t>Longbox lo reúne en un sistema web con tres roles: el Administrador gestiona, el Cajero vende en el local y el Cliente compra en la tienda.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funciones. Las seis naranjas están construidas: el catálogo, el alta de lotes con cálculo de precios, las novedades de proveedores, los precios con sus ofertas, la tienda online con su carrito, y las cuentas con sus roles y la auditoría.</a:t>
            </a:r>
          </a:p>
          <a:p/>
          <a:p>
            <a:r>
              <a:t>Un punto importante: en las novedades, el modelo de lenguaje sólo propone borradores. Nada entra al catálogo sin que una persona lo confirme.</a:t>
            </a:r>
          </a:p>
          <a:p/>
          <a:p>
            <a:r>
              <a:t>Las dos grises son la próxima etapa: la compra con sus pedidos, y la caja, los puntos y las devoluciones.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tiene una regla central: el documento de análisis y el código tienen que decir lo mismo.</a:t>
            </a:r>
          </a:p>
          <a:p/>
          <a:p>
            <a:r>
              <a:t>Cada caso de uso tiene contratos que declaran qué cambia en el sistema. Cada contrato tiene una prueba automática que lleva su código en el nombre. Así se puede comprobar, sin leer el código, qué parte del documento está cumplida.</a:t>
            </a:r>
          </a:p>
          <a:p/>
          <a:p>
            <a:r>
              <a:t>Un caso de uso se da por terminado sólo cuando pasa estas siete verificaciones, incluidas la seguridad y la configuración de despliegue.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trabajamos. El ciclo del analista tiene seis etapas: abstraer, razonar, diseñar, elaborar, evaluar y corregir. Al corregir se vuelve a empezar, y el ciclo no termina.</a:t>
            </a:r>
          </a:p>
          <a:p/>
          <a:p>
            <a:r>
              <a:t>La inteligencia artificial colabora en todas las etapas, con distinto peso. Al abstraer aporta poco: entender el negocio es trabajo del analista. Al razonar y diseñar ayuda bastante: encuentra ambigüedades y contradicciones, y propone planes con una recomendación. Al elaborar y evaluar es donde más acelera: escribe el código y las pruebas, y corre las verificaciones. Al corregir, arregla el código y deja registrada cada decisión en una bitácora.</a:t>
            </a:r>
          </a:p>
          <a:p/>
          <a:p>
            <a:r>
              <a:t>La regla es la misma que aplicamos dentro del sistema: la IA propone y el analista decide. Nada se da por aprobado sin una decisión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avance se mide contra el documento, no se estima.</a:t>
            </a:r>
          </a:p>
          <a:p/>
          <a:p>
            <a:r>
              <a:t>El documento especifica 103 casos de uso y 219 contratos. Hay 72 casos de uso con código construido. De ellos, 48 están verificados: cumplen todos sus contratos y pasan las siete verificaciones. Otros 9 están construidos sin verificar todavía y 15 están construidos en parte, porque dependen de algo que todavía no existe. Faltan 31, casi todos de la compra y la operación del local.</a:t>
            </a:r>
          </a:p>
          <a:p/>
          <a:p>
            <a:r>
              <a:t>De los 219 contratos, 89 están verificados por una prueba que lleva su código.</a:t>
            </a:r>
          </a:p>
          <a:p/>
          <a:p>
            <a:r>
              <a:t>El sistema tiene 1.920 pruebas automáticas, con 97 % de cobertura, y hoy todas las verificaciones están en verde.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logramos.</a:t>
            </a:r>
          </a:p>
          <a:p/>
          <a:p>
            <a:r>
              <a:t>Trazabilidad: se puede comprobar qué parte del documento está cumplida.</a:t>
            </a:r>
          </a:p>
          <a:p>
            <a:r>
              <a:t>Inteligencia artificial con control humano: el modelo propone, una persona confirma.</a:t>
            </a:r>
          </a:p>
          <a:p>
            <a:r>
              <a:t>Un registro de auditoría que nadie puede modificar: lo impide la base de datos.</a:t>
            </a:r>
          </a:p>
          <a:p>
            <a:r>
              <a:t>Control de acceso validado en el servidor, probado entrando con el rol equivocado.</a:t>
            </a:r>
          </a:p>
          <a:p>
            <a:r>
              <a:t>Precios sin errores de redondeo, y cada cambio de precio llega a los carritos.</a:t>
            </a:r>
          </a:p>
          <a:p>
            <a:r>
              <a:t>Resistencia: lo probamos con 50 usuarios a la vez, con operaciones simultáneas y con ataques; así encontramos y corregimos varias fallas antes de hoy.</a:t>
            </a:r>
          </a:p>
          <a:p>
            <a:r>
              <a:t>Una tienda que el Administrador arma sin programar.</a:t>
            </a:r>
          </a:p>
          <a:p>
            <a:r>
              <a:t>Y el sistema publicado en internet con HTTPS, que es lo que vamos a usar ahora.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falta, en el orden en que lo vamos a construir.</a:t>
            </a:r>
          </a:p>
          <a:p/>
          <a:p>
            <a:r>
              <a:t>La tienda y el carrito ya están. Primero falta la compra: el pago y los pedidos. Todo lo que sigue depende del pedido.</a:t>
            </a:r>
          </a:p>
          <a:p>
            <a:r>
              <a:t>Después la operación del local: la caja, los puntos, las devoluciones.</a:t>
            </a:r>
          </a:p>
          <a:p>
            <a:r>
              <a:t>Tercero, los procesos automáticos: la puerta ya existe y corre las ofertas; falta sumar los de cada módulo.</a:t>
            </a:r>
          </a:p>
          <a:p>
            <a:r>
              <a:t>Y la cuenta del cliente: su panel y los avisos de stock.</a:t>
            </a:r>
          </a:p>
          <a:p/>
          <a:p>
            <a:r>
              <a:t>Ahora lo mostramos funcionando.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LA DEMOSTRACIÓN (5 minutos)</a:t>
            </a:r>
          </a:p>
          <a:p/>
          <a:p>
            <a:r>
              <a:t>0:00 · Abrir la dirección pública, sin iniciar sesión.</a:t>
            </a:r>
          </a:p>
          <a:p>
            <a:r>
              <a:t>Decir: «Esta es la tienda. La portada, las filas por demografía y ‘Lo que se viene’ las arma el Administrador». Entrar al catálogo, prender un interruptor (Shonen) y escribir en la búsqueda: «Los filtros se aplican mientras se cambian».</a:t>
            </a:r>
          </a:p>
          <a:p/>
          <a:p>
            <a:r>
              <a:t>1:00 · Agregar dos tomos desde las tarjetas y abrir el carrito. Subir una cantidad.</a:t>
            </a:r>
          </a:p>
          <a:p>
            <a:r>
              <a:t>Decir: «El precio y el stock se recalculan solos. Si pido más de lo que hay, el sistema me avisa y lo ajusta».</a:t>
            </a:r>
          </a:p>
          <a:p/>
          <a:p>
            <a:r>
              <a:t>1:45 · Iniciar sesión como Administrador (en otra pestaña). Precios → Ofertas → crear una para ese tomo. Volver al carrito.</a:t>
            </a:r>
          </a:p>
          <a:p>
            <a:r>
              <a:t>Decir: «El cambio de precio llega al carrito y avisa cuál era el anterior».</a:t>
            </a:r>
          </a:p>
          <a:p/>
          <a:p>
            <a:r>
              <a:t>2:30 · Proveedores → Correos → abrir uno de Ivrea → Aprobar y procesar → Ir a la revisión.</a:t>
            </a:r>
          </a:p>
          <a:p>
            <a:r>
              <a:t>Decir: «El modelo de lenguaje lee el correo y propone borradores. Nada entra al catálogo hasta que una persona lo confirma».</a:t>
            </a:r>
          </a:p>
          <a:p/>
          <a:p>
            <a:r>
              <a:t>3:30 · Tienda → Filas de la portada: arrastrar una fila y guardar. Identidad visual: cargar la imagen del ingreso.</a:t>
            </a:r>
          </a:p>
          <a:p>
            <a:r>
              <a:t>Decir: «La tienda se configura sin programar, y cada cambio queda en la auditoría».</a:t>
            </a:r>
          </a:p>
          <a:p/>
          <a:p>
            <a:r>
              <a:t>4:15 · Iniciar sesión como Cajero y escribir a mano la dirección de la configuración.</a:t>
            </a:r>
          </a:p>
          <a:p>
            <a:r>
              <a:t>Decir: «El servidor lo rechaza: la restricción no está en el menú, está en el servidor». Si hay tiempo, por escritorio remoto: pytest -k CO083 -v.</a:t>
            </a:r>
          </a:p>
          <a:p/>
          <a:p>
            <a:r>
              <a:t>Si el modelo de lenguaje no está disponible, mostrar un correo ya procesado en lugar de aprobar uno nuevo.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Longbox es un sistema para toda la comiquería, construido paso a paso y verificado contra su documento de análisis.</a:t>
            </a:r>
          </a:p>
          <a:p/>
          <a:p>
            <a:r>
              <a:t>Gracias. Quedamos a disposición para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822960" y="2011680"/>
            <a:ext cx="1280160" cy="73152"/>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240280"/>
            <a:ext cx="10058400" cy="1097280"/>
          </a:xfrm>
          <a:prstGeom prst="rect">
            <a:avLst/>
          </a:prstGeom>
          <a:noFill/>
        </p:spPr>
        <p:txBody>
          <a:bodyPr wrap="square" anchor="t" lIns="45720" rIns="45720" tIns="18288" bIns="18288">
            <a:spAutoFit/>
          </a:bodyPr>
          <a:lstStyle/>
          <a:p>
            <a:pPr algn="l">
              <a:lnSpc>
                <a:spcPct val="115000"/>
              </a:lnSpc>
              <a:spcAft>
                <a:spcPts val="600"/>
              </a:spcAft>
            </a:pPr>
            <a:r>
              <a:rPr sz="6600" b="0">
                <a:solidFill>
                  <a:srgbClr val="FFFFFF"/>
                </a:solidFill>
                <a:latin typeface="Segoe UI Semibold"/>
              </a:rPr>
              <a:t>Longbox</a:t>
            </a:r>
          </a:p>
        </p:txBody>
      </p:sp>
      <p:sp>
        <p:nvSpPr>
          <p:cNvPr id="4" name="TextBox 3"/>
          <p:cNvSpPr txBox="1"/>
          <p:nvPr/>
        </p:nvSpPr>
        <p:spPr>
          <a:xfrm>
            <a:off x="822960" y="3337560"/>
            <a:ext cx="10058400" cy="640080"/>
          </a:xfrm>
          <a:prstGeom prst="rect">
            <a:avLst/>
          </a:prstGeom>
          <a:noFill/>
        </p:spPr>
        <p:txBody>
          <a:bodyPr wrap="square" anchor="t" lIns="45720" rIns="45720" tIns="18288" bIns="18288">
            <a:spAutoFit/>
          </a:bodyPr>
          <a:lstStyle/>
          <a:p>
            <a:pPr algn="l">
              <a:lnSpc>
                <a:spcPct val="115000"/>
              </a:lnSpc>
              <a:spcAft>
                <a:spcPts val="600"/>
              </a:spcAft>
            </a:pPr>
            <a:r>
              <a:rPr sz="2600" b="0">
                <a:solidFill>
                  <a:srgbClr val="D9D9D9"/>
                </a:solidFill>
                <a:latin typeface="Segoe UI"/>
              </a:rPr>
              <a:t>Sistema de gestión integral para una comiquería</a:t>
            </a:r>
          </a:p>
        </p:txBody>
      </p:sp>
      <p:sp>
        <p:nvSpPr>
          <p:cNvPr id="5" name="TextBox 4"/>
          <p:cNvSpPr txBox="1"/>
          <p:nvPr/>
        </p:nvSpPr>
        <p:spPr>
          <a:xfrm>
            <a:off x="822960" y="5029200"/>
            <a:ext cx="10058400" cy="822960"/>
          </a:xfrm>
          <a:prstGeom prst="rect">
            <a:avLst/>
          </a:prstGeom>
          <a:noFill/>
        </p:spPr>
        <p:txBody>
          <a:bodyPr wrap="square" anchor="t" lIns="45720" rIns="45720" tIns="18288" bIns="18288">
            <a:spAutoFit/>
          </a:bodyPr>
          <a:lstStyle/>
          <a:p>
            <a:pPr algn="l">
              <a:lnSpc>
                <a:spcPct val="115000"/>
              </a:lnSpc>
              <a:spcAft>
                <a:spcPts val="600"/>
              </a:spcAft>
            </a:pPr>
            <a:r>
              <a:rPr sz="1600" b="0">
                <a:solidFill>
                  <a:srgbClr val="FFFFFF"/>
                </a:solidFill>
                <a:latin typeface="Segoe UI"/>
              </a:rPr>
              <a:t>Trabajo final de grado</a:t>
            </a:r>
          </a:p>
          <a:p>
            <a:pPr algn="l">
              <a:lnSpc>
                <a:spcPct val="115000"/>
              </a:lnSpc>
              <a:spcAft>
                <a:spcPts val="600"/>
              </a:spcAft>
            </a:pPr>
            <a:r>
              <a:rPr sz="1400" b="0">
                <a:solidFill>
                  <a:srgbClr val="6E6E6E"/>
                </a:solidFill>
                <a:latin typeface="Segoe UI"/>
              </a:rPr>
              <a:t>5 minutos de presentación  ·  5 minutos de demostración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QUÉ ES</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Un solo sistema para toda la comiquería</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0:20   ·   2 / 10</a:t>
            </a:r>
          </a:p>
        </p:txBody>
      </p:sp>
      <p:sp>
        <p:nvSpPr>
          <p:cNvPr id="9" name="TextBox 8"/>
          <p:cNvSpPr txBox="1"/>
          <p:nvPr/>
        </p:nvSpPr>
        <p:spPr>
          <a:xfrm>
            <a:off x="640080" y="1920240"/>
            <a:ext cx="5669280" cy="365760"/>
          </a:xfrm>
          <a:prstGeom prst="rect">
            <a:avLst/>
          </a:prstGeom>
          <a:noFill/>
        </p:spPr>
        <p:txBody>
          <a:bodyPr wrap="square" anchor="t" lIns="45720" rIns="45720" tIns="18288" bIns="18288">
            <a:spAutoFit/>
          </a:bodyPr>
          <a:lstStyle/>
          <a:p>
            <a:pPr algn="l">
              <a:lnSpc>
                <a:spcPct val="115000"/>
              </a:lnSpc>
              <a:spcAft>
                <a:spcPts val="600"/>
              </a:spcAft>
            </a:pPr>
            <a:r>
              <a:rPr sz="2000" b="1">
                <a:solidFill>
                  <a:srgbClr val="111111"/>
                </a:solidFill>
                <a:latin typeface="Segoe UI"/>
              </a:rPr>
              <a:t>El problema</a:t>
            </a:r>
          </a:p>
        </p:txBody>
      </p:sp>
      <p:sp>
        <p:nvSpPr>
          <p:cNvPr id="10" name="TextBox 9"/>
          <p:cNvSpPr txBox="1"/>
          <p:nvPr/>
        </p:nvSpPr>
        <p:spPr>
          <a:xfrm>
            <a:off x="640080" y="2377440"/>
            <a:ext cx="5486400" cy="3200400"/>
          </a:xfrm>
          <a:prstGeom prst="rect">
            <a:avLst/>
          </a:prstGeom>
          <a:noFill/>
        </p:spPr>
        <p:txBody>
          <a:bodyPr wrap="square" anchor="t" lIns="45720" rIns="45720" tIns="18288" bIns="18288">
            <a:spAutoFit/>
          </a:bodyPr>
          <a:lstStyle/>
          <a:p>
            <a:pPr algn="l">
              <a:lnSpc>
                <a:spcPct val="115000"/>
              </a:lnSpc>
              <a:spcAft>
                <a:spcPts val="1200"/>
              </a:spcAft>
            </a:pPr>
            <a:r>
              <a:rPr sz="1700" b="0">
                <a:solidFill>
                  <a:srgbClr val="3A3A3A"/>
                </a:solidFill>
                <a:latin typeface="Segoe UI"/>
              </a:rPr>
              <a:t>Material editorial nacional e importado, con precios que dependen de la editorial, el formato, el envío y la cotización.</a:t>
            </a:r>
          </a:p>
          <a:p>
            <a:pPr algn="l">
              <a:lnSpc>
                <a:spcPct val="115000"/>
              </a:lnSpc>
              <a:spcAft>
                <a:spcPts val="1200"/>
              </a:spcAft>
            </a:pPr>
            <a:r>
              <a:rPr sz="1700" b="0">
                <a:solidFill>
                  <a:srgbClr val="3A3A3A"/>
                </a:solidFill>
                <a:latin typeface="Segoe UI"/>
              </a:rPr>
              <a:t>Proveedores que anuncian novedades por correo.</a:t>
            </a:r>
          </a:p>
          <a:p>
            <a:pPr algn="l">
              <a:lnSpc>
                <a:spcPct val="115000"/>
              </a:lnSpc>
              <a:spcAft>
                <a:spcPts val="1200"/>
              </a:spcAft>
            </a:pPr>
            <a:r>
              <a:rPr sz="1700" b="0">
                <a:solidFill>
                  <a:srgbClr val="3A3A3A"/>
                </a:solidFill>
                <a:latin typeface="Segoe UI"/>
              </a:rPr>
              <a:t>Ventas en el local y una tienda online.</a:t>
            </a:r>
          </a:p>
          <a:p>
            <a:pPr algn="l">
              <a:lnSpc>
                <a:spcPct val="115000"/>
              </a:lnSpc>
              <a:spcAft>
                <a:spcPts val="1200"/>
              </a:spcAft>
            </a:pPr>
            <a:r>
              <a:rPr sz="1700" b="0">
                <a:solidFill>
                  <a:srgbClr val="3A3A3A"/>
                </a:solidFill>
                <a:latin typeface="Segoe UI"/>
              </a:rPr>
              <a:t>Hoy todo se resuelve con planillas, correos y memoria.</a:t>
            </a:r>
          </a:p>
        </p:txBody>
      </p:sp>
      <p:sp>
        <p:nvSpPr>
          <p:cNvPr id="11" name="Rectangle 10"/>
          <p:cNvSpPr/>
          <p:nvPr/>
        </p:nvSpPr>
        <p:spPr>
          <a:xfrm>
            <a:off x="6675120" y="1920240"/>
            <a:ext cx="4846320" cy="41148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0" y="1920240"/>
            <a:ext cx="73152" cy="41148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0" y="2148840"/>
            <a:ext cx="4389120" cy="365760"/>
          </a:xfrm>
          <a:prstGeom prst="rect">
            <a:avLst/>
          </a:prstGeom>
          <a:noFill/>
        </p:spPr>
        <p:txBody>
          <a:bodyPr wrap="square" anchor="t" lIns="45720" rIns="45720" tIns="18288" bIns="18288">
            <a:spAutoFit/>
          </a:bodyPr>
          <a:lstStyle/>
          <a:p>
            <a:pPr algn="l">
              <a:lnSpc>
                <a:spcPct val="115000"/>
              </a:lnSpc>
              <a:spcAft>
                <a:spcPts val="600"/>
              </a:spcAft>
            </a:pPr>
            <a:r>
              <a:rPr sz="2000" b="1">
                <a:solidFill>
                  <a:srgbClr val="111111"/>
                </a:solidFill>
                <a:latin typeface="Segoe UI"/>
              </a:rPr>
              <a:t>La solución</a:t>
            </a:r>
          </a:p>
        </p:txBody>
      </p:sp>
      <p:sp>
        <p:nvSpPr>
          <p:cNvPr id="14" name="TextBox 13"/>
          <p:cNvSpPr txBox="1"/>
          <p:nvPr/>
        </p:nvSpPr>
        <p:spPr>
          <a:xfrm>
            <a:off x="7040880" y="2606040"/>
            <a:ext cx="4297680" cy="1188720"/>
          </a:xfrm>
          <a:prstGeom prst="rect">
            <a:avLst/>
          </a:prstGeom>
          <a:noFill/>
        </p:spPr>
        <p:txBody>
          <a:bodyPr wrap="square" anchor="t" lIns="45720" rIns="45720" tIns="18288" bIns="18288">
            <a:spAutoFit/>
          </a:bodyPr>
          <a:lstStyle/>
          <a:p>
            <a:pPr algn="l">
              <a:lnSpc>
                <a:spcPct val="115000"/>
              </a:lnSpc>
              <a:spcAft>
                <a:spcPts val="600"/>
              </a:spcAft>
            </a:pPr>
            <a:r>
              <a:rPr sz="1700" b="0">
                <a:solidFill>
                  <a:srgbClr val="3A3A3A"/>
                </a:solidFill>
                <a:latin typeface="Segoe UI"/>
              </a:rPr>
              <a:t>Longbox reúne la operación en un sistema web: un backoffice para el personal y una tienda para los clientes.</a:t>
            </a:r>
          </a:p>
        </p:txBody>
      </p:sp>
      <p:sp>
        <p:nvSpPr>
          <p:cNvPr id="15" name="TextBox 14"/>
          <p:cNvSpPr txBox="1"/>
          <p:nvPr/>
        </p:nvSpPr>
        <p:spPr>
          <a:xfrm>
            <a:off x="7040880" y="3931920"/>
            <a:ext cx="1645920" cy="365760"/>
          </a:xfrm>
          <a:prstGeom prst="rect">
            <a:avLst/>
          </a:prstGeom>
          <a:noFill/>
        </p:spPr>
        <p:txBody>
          <a:bodyPr wrap="square" anchor="t" lIns="45720" rIns="45720" tIns="18288" bIns="18288">
            <a:spAutoFit/>
          </a:bodyPr>
          <a:lstStyle/>
          <a:p>
            <a:pPr algn="l">
              <a:lnSpc>
                <a:spcPct val="115000"/>
              </a:lnSpc>
              <a:spcAft>
                <a:spcPts val="600"/>
              </a:spcAft>
            </a:pPr>
            <a:r>
              <a:rPr sz="1500" b="1">
                <a:solidFill>
                  <a:srgbClr val="F26B1D"/>
                </a:solidFill>
                <a:latin typeface="Segoe UI"/>
              </a:rPr>
              <a:t>Administrador</a:t>
            </a:r>
          </a:p>
        </p:txBody>
      </p:sp>
      <p:sp>
        <p:nvSpPr>
          <p:cNvPr id="16" name="TextBox 15"/>
          <p:cNvSpPr txBox="1"/>
          <p:nvPr/>
        </p:nvSpPr>
        <p:spPr>
          <a:xfrm>
            <a:off x="8641080" y="3931920"/>
            <a:ext cx="2834640" cy="64008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Gestiona catálogo, precios, proveedores y cuentas.</a:t>
            </a:r>
          </a:p>
        </p:txBody>
      </p:sp>
      <p:sp>
        <p:nvSpPr>
          <p:cNvPr id="17" name="TextBox 16"/>
          <p:cNvSpPr txBox="1"/>
          <p:nvPr/>
        </p:nvSpPr>
        <p:spPr>
          <a:xfrm>
            <a:off x="7040880" y="4590288"/>
            <a:ext cx="1645920" cy="365760"/>
          </a:xfrm>
          <a:prstGeom prst="rect">
            <a:avLst/>
          </a:prstGeom>
          <a:noFill/>
        </p:spPr>
        <p:txBody>
          <a:bodyPr wrap="square" anchor="t" lIns="45720" rIns="45720" tIns="18288" bIns="18288">
            <a:spAutoFit/>
          </a:bodyPr>
          <a:lstStyle/>
          <a:p>
            <a:pPr algn="l">
              <a:lnSpc>
                <a:spcPct val="115000"/>
              </a:lnSpc>
              <a:spcAft>
                <a:spcPts val="600"/>
              </a:spcAft>
            </a:pPr>
            <a:r>
              <a:rPr sz="1500" b="1">
                <a:solidFill>
                  <a:srgbClr val="F26B1D"/>
                </a:solidFill>
                <a:latin typeface="Segoe UI"/>
              </a:rPr>
              <a:t>Cajero</a:t>
            </a:r>
          </a:p>
        </p:txBody>
      </p:sp>
      <p:sp>
        <p:nvSpPr>
          <p:cNvPr id="18" name="TextBox 17"/>
          <p:cNvSpPr txBox="1"/>
          <p:nvPr/>
        </p:nvSpPr>
        <p:spPr>
          <a:xfrm>
            <a:off x="8641080" y="4590288"/>
            <a:ext cx="2834640" cy="64008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Consulta el inventario y vende en el mostrador.</a:t>
            </a:r>
          </a:p>
        </p:txBody>
      </p:sp>
      <p:sp>
        <p:nvSpPr>
          <p:cNvPr id="19" name="TextBox 18"/>
          <p:cNvSpPr txBox="1"/>
          <p:nvPr/>
        </p:nvSpPr>
        <p:spPr>
          <a:xfrm>
            <a:off x="7040880" y="5248656"/>
            <a:ext cx="1645920" cy="365760"/>
          </a:xfrm>
          <a:prstGeom prst="rect">
            <a:avLst/>
          </a:prstGeom>
          <a:noFill/>
        </p:spPr>
        <p:txBody>
          <a:bodyPr wrap="square" anchor="t" lIns="45720" rIns="45720" tIns="18288" bIns="18288">
            <a:spAutoFit/>
          </a:bodyPr>
          <a:lstStyle/>
          <a:p>
            <a:pPr algn="l">
              <a:lnSpc>
                <a:spcPct val="115000"/>
              </a:lnSpc>
              <a:spcAft>
                <a:spcPts val="600"/>
              </a:spcAft>
            </a:pPr>
            <a:r>
              <a:rPr sz="1500" b="1">
                <a:solidFill>
                  <a:srgbClr val="F26B1D"/>
                </a:solidFill>
                <a:latin typeface="Segoe UI"/>
              </a:rPr>
              <a:t>Cliente</a:t>
            </a:r>
          </a:p>
        </p:txBody>
      </p:sp>
      <p:sp>
        <p:nvSpPr>
          <p:cNvPr id="20" name="TextBox 19"/>
          <p:cNvSpPr txBox="1"/>
          <p:nvPr/>
        </p:nvSpPr>
        <p:spPr>
          <a:xfrm>
            <a:off x="8641080" y="5248656"/>
            <a:ext cx="2834640" cy="64008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Se registra y compra en la tienda.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QUÉ HACE</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Funciones del sistema</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1:00   ·   3 / 10</a:t>
            </a:r>
          </a:p>
        </p:txBody>
      </p:sp>
      <p:sp>
        <p:nvSpPr>
          <p:cNvPr id="9" name="Rectangle 8"/>
          <p:cNvSpPr/>
          <p:nvPr/>
        </p:nvSpPr>
        <p:spPr>
          <a:xfrm>
            <a:off x="640080" y="1874519"/>
            <a:ext cx="2606040" cy="1965960"/>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74519"/>
            <a:ext cx="2606040" cy="6400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10312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Catálogo e inventario</a:t>
            </a:r>
          </a:p>
        </p:txBody>
      </p:sp>
      <p:sp>
        <p:nvSpPr>
          <p:cNvPr id="12" name="TextBox 11"/>
          <p:cNvSpPr txBox="1"/>
          <p:nvPr/>
        </p:nvSpPr>
        <p:spPr>
          <a:xfrm>
            <a:off x="822959" y="274320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Productos editoriales y no editoriales, fichas, etiquetas y stock.</a:t>
            </a:r>
          </a:p>
        </p:txBody>
      </p:sp>
      <p:sp>
        <p:nvSpPr>
          <p:cNvPr id="13" name="TextBox 12"/>
          <p:cNvSpPr txBox="1"/>
          <p:nvPr/>
        </p:nvSpPr>
        <p:spPr>
          <a:xfrm>
            <a:off x="822959" y="3447287"/>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F26B1D"/>
                </a:solidFill>
                <a:latin typeface="Segoe UI"/>
              </a:rPr>
              <a:t>Construido</a:t>
            </a:r>
          </a:p>
        </p:txBody>
      </p:sp>
      <p:sp>
        <p:nvSpPr>
          <p:cNvPr id="14" name="Rectangle 13"/>
          <p:cNvSpPr/>
          <p:nvPr/>
        </p:nvSpPr>
        <p:spPr>
          <a:xfrm>
            <a:off x="3401568" y="1874519"/>
            <a:ext cx="2606040" cy="1965960"/>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1874519"/>
            <a:ext cx="2606040" cy="6400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4448" y="210312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Alta de lotes</a:t>
            </a:r>
          </a:p>
        </p:txBody>
      </p:sp>
      <p:sp>
        <p:nvSpPr>
          <p:cNvPr id="17" name="TextBox 16"/>
          <p:cNvSpPr txBox="1"/>
          <p:nvPr/>
        </p:nvSpPr>
        <p:spPr>
          <a:xfrm>
            <a:off x="3584448" y="274320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Nacional con tabla de precios. Importado con costo, envío y margen.</a:t>
            </a:r>
          </a:p>
        </p:txBody>
      </p:sp>
      <p:sp>
        <p:nvSpPr>
          <p:cNvPr id="18" name="TextBox 17"/>
          <p:cNvSpPr txBox="1"/>
          <p:nvPr/>
        </p:nvSpPr>
        <p:spPr>
          <a:xfrm>
            <a:off x="3584448" y="3447287"/>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F26B1D"/>
                </a:solidFill>
                <a:latin typeface="Segoe UI"/>
              </a:rPr>
              <a:t>Construido</a:t>
            </a:r>
          </a:p>
        </p:txBody>
      </p:sp>
      <p:sp>
        <p:nvSpPr>
          <p:cNvPr id="19" name="Rectangle 18"/>
          <p:cNvSpPr/>
          <p:nvPr/>
        </p:nvSpPr>
        <p:spPr>
          <a:xfrm>
            <a:off x="6163056" y="1874519"/>
            <a:ext cx="2606040" cy="1965960"/>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63056" y="1874519"/>
            <a:ext cx="2606040" cy="6400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936" y="210312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Novedades de proveedores</a:t>
            </a:r>
          </a:p>
        </p:txBody>
      </p:sp>
      <p:sp>
        <p:nvSpPr>
          <p:cNvPr id="22" name="TextBox 21"/>
          <p:cNvSpPr txBox="1"/>
          <p:nvPr/>
        </p:nvSpPr>
        <p:spPr>
          <a:xfrm>
            <a:off x="6345936" y="274320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Un modelo de lenguaje lee el correo y propone borradores. Una persona confirma.</a:t>
            </a:r>
          </a:p>
        </p:txBody>
      </p:sp>
      <p:sp>
        <p:nvSpPr>
          <p:cNvPr id="23" name="TextBox 22"/>
          <p:cNvSpPr txBox="1"/>
          <p:nvPr/>
        </p:nvSpPr>
        <p:spPr>
          <a:xfrm>
            <a:off x="6345936" y="3447287"/>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F26B1D"/>
                </a:solidFill>
                <a:latin typeface="Segoe UI"/>
              </a:rPr>
              <a:t>Construido</a:t>
            </a:r>
          </a:p>
        </p:txBody>
      </p:sp>
      <p:sp>
        <p:nvSpPr>
          <p:cNvPr id="24" name="Rectangle 23"/>
          <p:cNvSpPr/>
          <p:nvPr/>
        </p:nvSpPr>
        <p:spPr>
          <a:xfrm>
            <a:off x="8924544" y="1874519"/>
            <a:ext cx="2606040" cy="1965960"/>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24544" y="1874519"/>
            <a:ext cx="2606040" cy="6400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07424" y="210312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Precios y ofertas</a:t>
            </a:r>
          </a:p>
        </p:txBody>
      </p:sp>
      <p:sp>
        <p:nvSpPr>
          <p:cNvPr id="27" name="TextBox 26"/>
          <p:cNvSpPr txBox="1"/>
          <p:nvPr/>
        </p:nvSpPr>
        <p:spPr>
          <a:xfrm>
            <a:off x="9107424" y="274320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Tabla de precios, margen y ofertas. Un cambio llega hasta los carritos.</a:t>
            </a:r>
          </a:p>
        </p:txBody>
      </p:sp>
      <p:sp>
        <p:nvSpPr>
          <p:cNvPr id="28" name="TextBox 27"/>
          <p:cNvSpPr txBox="1"/>
          <p:nvPr/>
        </p:nvSpPr>
        <p:spPr>
          <a:xfrm>
            <a:off x="9107424" y="3447287"/>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F26B1D"/>
                </a:solidFill>
                <a:latin typeface="Segoe UI"/>
              </a:rPr>
              <a:t>Construido</a:t>
            </a:r>
          </a:p>
        </p:txBody>
      </p:sp>
      <p:sp>
        <p:nvSpPr>
          <p:cNvPr id="29" name="Rectangle 28"/>
          <p:cNvSpPr/>
          <p:nvPr/>
        </p:nvSpPr>
        <p:spPr>
          <a:xfrm>
            <a:off x="640080" y="4023360"/>
            <a:ext cx="2606040" cy="1965960"/>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4023360"/>
            <a:ext cx="2606040" cy="6400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425196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Tienda online</a:t>
            </a:r>
          </a:p>
        </p:txBody>
      </p:sp>
      <p:sp>
        <p:nvSpPr>
          <p:cNvPr id="32" name="TextBox 31"/>
          <p:cNvSpPr txBox="1"/>
          <p:nvPr/>
        </p:nvSpPr>
        <p:spPr>
          <a:xfrm>
            <a:off x="822959" y="489204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Portada configurable, catálogo con filtros, ficha y carrito.</a:t>
            </a:r>
          </a:p>
        </p:txBody>
      </p:sp>
      <p:sp>
        <p:nvSpPr>
          <p:cNvPr id="33" name="TextBox 32"/>
          <p:cNvSpPr txBox="1"/>
          <p:nvPr/>
        </p:nvSpPr>
        <p:spPr>
          <a:xfrm>
            <a:off x="822959" y="5596128"/>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F26B1D"/>
                </a:solidFill>
                <a:latin typeface="Segoe UI"/>
              </a:rPr>
              <a:t>Construido</a:t>
            </a:r>
          </a:p>
        </p:txBody>
      </p:sp>
      <p:sp>
        <p:nvSpPr>
          <p:cNvPr id="34" name="Rectangle 33"/>
          <p:cNvSpPr/>
          <p:nvPr/>
        </p:nvSpPr>
        <p:spPr>
          <a:xfrm>
            <a:off x="3401568" y="4023360"/>
            <a:ext cx="2606040" cy="1965960"/>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01568" y="4023360"/>
            <a:ext cx="2606040" cy="6400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84448" y="425196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Cuentas, roles y auditoría</a:t>
            </a:r>
          </a:p>
        </p:txBody>
      </p:sp>
      <p:sp>
        <p:nvSpPr>
          <p:cNvPr id="37" name="TextBox 36"/>
          <p:cNvSpPr txBox="1"/>
          <p:nvPr/>
        </p:nvSpPr>
        <p:spPr>
          <a:xfrm>
            <a:off x="3584448" y="489204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Acceso controlado en el servidor. Registro que no se puede alterar.</a:t>
            </a:r>
          </a:p>
        </p:txBody>
      </p:sp>
      <p:sp>
        <p:nvSpPr>
          <p:cNvPr id="38" name="TextBox 37"/>
          <p:cNvSpPr txBox="1"/>
          <p:nvPr/>
        </p:nvSpPr>
        <p:spPr>
          <a:xfrm>
            <a:off x="3584448" y="5596128"/>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F26B1D"/>
                </a:solidFill>
                <a:latin typeface="Segoe UI"/>
              </a:rPr>
              <a:t>Construido</a:t>
            </a:r>
          </a:p>
        </p:txBody>
      </p:sp>
      <p:sp>
        <p:nvSpPr>
          <p:cNvPr id="39" name="Rectangle 38"/>
          <p:cNvSpPr/>
          <p:nvPr/>
        </p:nvSpPr>
        <p:spPr>
          <a:xfrm>
            <a:off x="6163056" y="4023360"/>
            <a:ext cx="2606040" cy="1965960"/>
          </a:xfrm>
          <a:prstGeom prst="rect">
            <a:avLst/>
          </a:prstGeom>
          <a:solidFill>
            <a:srgbClr val="F3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63056" y="4023360"/>
            <a:ext cx="2606040" cy="64008"/>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45936" y="425196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Compra y pedidos</a:t>
            </a:r>
          </a:p>
        </p:txBody>
      </p:sp>
      <p:sp>
        <p:nvSpPr>
          <p:cNvPr id="42" name="TextBox 41"/>
          <p:cNvSpPr txBox="1"/>
          <p:nvPr/>
        </p:nvSpPr>
        <p:spPr>
          <a:xfrm>
            <a:off x="6345936" y="489204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Pago, seguimiento y reservas de pre-venta.</a:t>
            </a:r>
          </a:p>
        </p:txBody>
      </p:sp>
      <p:sp>
        <p:nvSpPr>
          <p:cNvPr id="43" name="TextBox 42"/>
          <p:cNvSpPr txBox="1"/>
          <p:nvPr/>
        </p:nvSpPr>
        <p:spPr>
          <a:xfrm>
            <a:off x="6345936" y="5596128"/>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6E6E6E"/>
                </a:solidFill>
                <a:latin typeface="Segoe UI"/>
              </a:rPr>
              <a:t>Próxima etapa</a:t>
            </a:r>
          </a:p>
        </p:txBody>
      </p:sp>
      <p:sp>
        <p:nvSpPr>
          <p:cNvPr id="44" name="Rectangle 43"/>
          <p:cNvSpPr/>
          <p:nvPr/>
        </p:nvSpPr>
        <p:spPr>
          <a:xfrm>
            <a:off x="8924544" y="4023360"/>
            <a:ext cx="2606040" cy="1965960"/>
          </a:xfrm>
          <a:prstGeom prst="rect">
            <a:avLst/>
          </a:prstGeom>
          <a:solidFill>
            <a:srgbClr val="F3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924544" y="4023360"/>
            <a:ext cx="2606040" cy="64008"/>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07424" y="4251960"/>
            <a:ext cx="2286000" cy="64008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Caja, puntos y devoluciones</a:t>
            </a:r>
          </a:p>
        </p:txBody>
      </p:sp>
      <p:sp>
        <p:nvSpPr>
          <p:cNvPr id="47" name="TextBox 46"/>
          <p:cNvSpPr txBox="1"/>
          <p:nvPr/>
        </p:nvSpPr>
        <p:spPr>
          <a:xfrm>
            <a:off x="9107424" y="4892040"/>
            <a:ext cx="2286000" cy="914400"/>
          </a:xfrm>
          <a:prstGeom prst="rect">
            <a:avLst/>
          </a:prstGeom>
          <a:noFill/>
        </p:spPr>
        <p:txBody>
          <a:bodyPr wrap="square" anchor="t" lIns="45720" rIns="45720" tIns="18288" bIns="18288">
            <a:spAutoFit/>
          </a:bodyPr>
          <a:lstStyle/>
          <a:p>
            <a:pPr algn="l">
              <a:lnSpc>
                <a:spcPct val="115000"/>
              </a:lnSpc>
              <a:spcAft>
                <a:spcPts val="600"/>
              </a:spcAft>
            </a:pPr>
            <a:r>
              <a:rPr sz="1250" b="0">
                <a:solidFill>
                  <a:srgbClr val="3A3A3A"/>
                </a:solidFill>
                <a:latin typeface="Segoe UI"/>
              </a:rPr>
              <a:t>Ventas en el local, fidelización y reclamos.</a:t>
            </a:r>
          </a:p>
        </p:txBody>
      </p:sp>
      <p:sp>
        <p:nvSpPr>
          <p:cNvPr id="48" name="TextBox 47"/>
          <p:cNvSpPr txBox="1"/>
          <p:nvPr/>
        </p:nvSpPr>
        <p:spPr>
          <a:xfrm>
            <a:off x="9107424" y="5596128"/>
            <a:ext cx="2286000" cy="27432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6E6E6E"/>
                </a:solidFill>
                <a:latin typeface="Segoe UI"/>
              </a:rPr>
              <a:t>Próxima etapa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CÓMO SE CONSTRUYE</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El documento y el código dicen lo mismo</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1:45   ·   4 / 10</a:t>
            </a:r>
          </a:p>
        </p:txBody>
      </p:sp>
      <p:sp>
        <p:nvSpPr>
          <p:cNvPr id="9" name="Rectangle 8"/>
          <p:cNvSpPr/>
          <p:nvPr/>
        </p:nvSpPr>
        <p:spPr>
          <a:xfrm>
            <a:off x="640080" y="1965960"/>
            <a:ext cx="2377440" cy="141732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103120"/>
            <a:ext cx="2103120" cy="45720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FFFFFF"/>
                </a:solidFill>
                <a:latin typeface="Segoe UI"/>
              </a:rPr>
              <a:t>Caso de uso</a:t>
            </a:r>
          </a:p>
        </p:txBody>
      </p:sp>
      <p:sp>
        <p:nvSpPr>
          <p:cNvPr id="11" name="TextBox 10"/>
          <p:cNvSpPr txBox="1"/>
          <p:nvPr/>
        </p:nvSpPr>
        <p:spPr>
          <a:xfrm>
            <a:off x="822959" y="2560320"/>
            <a:ext cx="2057400" cy="7772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FFFFFF"/>
                </a:solidFill>
                <a:latin typeface="Segoe UI"/>
              </a:rPr>
              <a:t>Qué hace el actor, paso a paso.</a:t>
            </a:r>
          </a:p>
        </p:txBody>
      </p:sp>
      <p:cxnSp>
        <p:nvCxnSpPr>
          <p:cNvPr id="12" name="Connector 11"/>
          <p:cNvCxnSpPr/>
          <p:nvPr/>
        </p:nvCxnSpPr>
        <p:spPr>
          <a:xfrm>
            <a:off x="3063239" y="2679192"/>
            <a:ext cx="320041" cy="0"/>
          </a:xfrm>
          <a:prstGeom prst="line">
            <a:avLst/>
          </a:prstGeom>
          <a:ln w="2540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3429000" y="1965960"/>
            <a:ext cx="2377440" cy="141732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103120"/>
            <a:ext cx="2103120" cy="45720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FFFFFF"/>
                </a:solidFill>
                <a:latin typeface="Segoe UI"/>
              </a:rPr>
              <a:t>Contrato</a:t>
            </a:r>
          </a:p>
        </p:txBody>
      </p:sp>
      <p:sp>
        <p:nvSpPr>
          <p:cNvPr id="15" name="TextBox 14"/>
          <p:cNvSpPr txBox="1"/>
          <p:nvPr/>
        </p:nvSpPr>
        <p:spPr>
          <a:xfrm>
            <a:off x="3611880" y="2560320"/>
            <a:ext cx="2057400" cy="7772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FFFFFF"/>
                </a:solidFill>
                <a:latin typeface="Segoe UI"/>
              </a:rPr>
              <a:t>Qué cambia en el sistema con cada operación.</a:t>
            </a:r>
          </a:p>
        </p:txBody>
      </p:sp>
      <p:cxnSp>
        <p:nvCxnSpPr>
          <p:cNvPr id="16" name="Connector 15"/>
          <p:cNvCxnSpPr/>
          <p:nvPr/>
        </p:nvCxnSpPr>
        <p:spPr>
          <a:xfrm>
            <a:off x="5852160" y="2679192"/>
            <a:ext cx="320040" cy="0"/>
          </a:xfrm>
          <a:prstGeom prst="line">
            <a:avLst/>
          </a:prstGeom>
          <a:ln w="2540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217920" y="1965960"/>
            <a:ext cx="2377440" cy="141732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103120"/>
            <a:ext cx="2103120" cy="45720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FFFFFF"/>
                </a:solidFill>
                <a:latin typeface="Segoe UI"/>
              </a:rPr>
              <a:t>Prueba</a:t>
            </a:r>
          </a:p>
        </p:txBody>
      </p:sp>
      <p:sp>
        <p:nvSpPr>
          <p:cNvPr id="19" name="TextBox 18"/>
          <p:cNvSpPr txBox="1"/>
          <p:nvPr/>
        </p:nvSpPr>
        <p:spPr>
          <a:xfrm>
            <a:off x="6400800" y="2560320"/>
            <a:ext cx="2057400" cy="7772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FFFFFF"/>
                </a:solidFill>
                <a:latin typeface="Segoe UI"/>
              </a:rPr>
              <a:t>Lleva el código del contrato en su nombre.</a:t>
            </a:r>
          </a:p>
        </p:txBody>
      </p:sp>
      <p:cxnSp>
        <p:nvCxnSpPr>
          <p:cNvPr id="20" name="Connector 19"/>
          <p:cNvCxnSpPr/>
          <p:nvPr/>
        </p:nvCxnSpPr>
        <p:spPr>
          <a:xfrm>
            <a:off x="8641080" y="2679192"/>
            <a:ext cx="320040" cy="0"/>
          </a:xfrm>
          <a:prstGeom prst="line">
            <a:avLst/>
          </a:prstGeom>
          <a:ln w="2540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006839" y="1965960"/>
            <a:ext cx="2377440" cy="141732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19" y="2103120"/>
            <a:ext cx="2103120" cy="45720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FFFFFF"/>
                </a:solidFill>
                <a:latin typeface="Segoe UI"/>
              </a:rPr>
              <a:t>Verificado</a:t>
            </a:r>
          </a:p>
        </p:txBody>
      </p:sp>
      <p:sp>
        <p:nvSpPr>
          <p:cNvPr id="23" name="TextBox 22"/>
          <p:cNvSpPr txBox="1"/>
          <p:nvPr/>
        </p:nvSpPr>
        <p:spPr>
          <a:xfrm>
            <a:off x="9189719" y="2560320"/>
            <a:ext cx="2057400" cy="7772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FFFFFF"/>
                </a:solidFill>
                <a:latin typeface="Segoe UI"/>
              </a:rPr>
              <a:t>Pasa las siete verificaciones.</a:t>
            </a:r>
          </a:p>
        </p:txBody>
      </p:sp>
      <p:sp>
        <p:nvSpPr>
          <p:cNvPr id="24" name="TextBox 23"/>
          <p:cNvSpPr txBox="1"/>
          <p:nvPr/>
        </p:nvSpPr>
        <p:spPr>
          <a:xfrm>
            <a:off x="640080" y="3749039"/>
            <a:ext cx="100584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Las siete verificaciones</a:t>
            </a:r>
          </a:p>
        </p:txBody>
      </p:sp>
      <p:sp>
        <p:nvSpPr>
          <p:cNvPr id="25" name="Rectangle 24"/>
          <p:cNvSpPr/>
          <p:nvPr/>
        </p:nvSpPr>
        <p:spPr>
          <a:xfrm>
            <a:off x="640080" y="4297679"/>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206240"/>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Todas las pruebas pasan</a:t>
            </a:r>
          </a:p>
        </p:txBody>
      </p:sp>
      <p:sp>
        <p:nvSpPr>
          <p:cNvPr id="27" name="Rectangle 26"/>
          <p:cNvSpPr/>
          <p:nvPr/>
        </p:nvSpPr>
        <p:spPr>
          <a:xfrm>
            <a:off x="640080" y="4800599"/>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709159"/>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Cada operación tiene su prueba de contrato</a:t>
            </a:r>
          </a:p>
        </p:txBody>
      </p:sp>
      <p:sp>
        <p:nvSpPr>
          <p:cNvPr id="29" name="Rectangle 28"/>
          <p:cNvSpPr/>
          <p:nvPr/>
        </p:nvSpPr>
        <p:spPr>
          <a:xfrm>
            <a:off x="640080" y="5303519"/>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212079"/>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Cobertura del código de al menos 80 %</a:t>
            </a:r>
          </a:p>
        </p:txBody>
      </p:sp>
      <p:sp>
        <p:nvSpPr>
          <p:cNvPr id="31" name="Rectangle 30"/>
          <p:cNvSpPr/>
          <p:nvPr/>
        </p:nvSpPr>
        <p:spPr>
          <a:xfrm>
            <a:off x="640080" y="5806440"/>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715000"/>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Análisis estático sin hallazgos</a:t>
            </a:r>
          </a:p>
        </p:txBody>
      </p:sp>
      <p:sp>
        <p:nvSpPr>
          <p:cNvPr id="33" name="Rectangle 32"/>
          <p:cNvSpPr/>
          <p:nvPr/>
        </p:nvSpPr>
        <p:spPr>
          <a:xfrm>
            <a:off x="6126480" y="4297679"/>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206240"/>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Formato uniforme</a:t>
            </a:r>
          </a:p>
        </p:txBody>
      </p:sp>
      <p:sp>
        <p:nvSpPr>
          <p:cNvPr id="35" name="Rectangle 34"/>
          <p:cNvSpPr/>
          <p:nvPr/>
        </p:nvSpPr>
        <p:spPr>
          <a:xfrm>
            <a:off x="6126480" y="4800599"/>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4709159"/>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Auditoría de seguridad sin hallazgos</a:t>
            </a:r>
          </a:p>
        </p:txBody>
      </p:sp>
      <p:sp>
        <p:nvSpPr>
          <p:cNvPr id="37" name="Rectangle 36"/>
          <p:cNvSpPr/>
          <p:nvPr/>
        </p:nvSpPr>
        <p:spPr>
          <a:xfrm>
            <a:off x="6126480" y="5303519"/>
            <a:ext cx="201168" cy="201168"/>
          </a:xfrm>
          <a:prstGeom prst="rect">
            <a:avLst/>
          </a:prstGeom>
          <a:noFill/>
          <a:ln w="1905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5212079"/>
            <a:ext cx="4937760" cy="411480"/>
          </a:xfrm>
          <a:prstGeom prst="rect">
            <a:avLst/>
          </a:prstGeom>
          <a:noFill/>
        </p:spPr>
        <p:txBody>
          <a:bodyPr wrap="square" anchor="t" lIns="45720" rIns="45720" tIns="18288" bIns="18288">
            <a:spAutoFit/>
          </a:bodyPr>
          <a:lstStyle/>
          <a:p>
            <a:pPr algn="l">
              <a:lnSpc>
                <a:spcPct val="115000"/>
              </a:lnSpc>
              <a:spcAft>
                <a:spcPts val="600"/>
              </a:spcAft>
            </a:pPr>
            <a:r>
              <a:rPr sz="1500" b="0">
                <a:solidFill>
                  <a:srgbClr val="3A3A3A"/>
                </a:solidFill>
                <a:latin typeface="Segoe UI"/>
              </a:rPr>
              <a:t>Configuración de despliegue sin advertencias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PROCESO DE DESARROLLO</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El ciclo del analista y dónde colabora la IA</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2:30   ·   5 / 10</a:t>
            </a:r>
          </a:p>
        </p:txBody>
      </p:sp>
      <p:cxnSp>
        <p:nvCxnSpPr>
          <p:cNvPr id="9" name="Connector 8"/>
          <p:cNvCxnSpPr/>
          <p:nvPr/>
        </p:nvCxnSpPr>
        <p:spPr>
          <a:xfrm>
            <a:off x="3554214" y="2569464"/>
            <a:ext cx="562244" cy="324612"/>
          </a:xfrm>
          <a:prstGeom prst="line">
            <a:avLst/>
          </a:prstGeom>
          <a:ln w="22225">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607432" y="3744468"/>
            <a:ext cx="0" cy="649224"/>
          </a:xfrm>
          <a:prstGeom prst="line">
            <a:avLst/>
          </a:prstGeom>
          <a:ln w="22225">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554214" y="5244084"/>
            <a:ext cx="562244" cy="324612"/>
          </a:xfrm>
          <a:prstGeom prst="line">
            <a:avLst/>
          </a:prstGeom>
          <a:ln w="22225">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010021" y="5244084"/>
            <a:ext cx="562244" cy="324612"/>
          </a:xfrm>
          <a:prstGeom prst="line">
            <a:avLst/>
          </a:prstGeom>
          <a:ln w="22225">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519047" y="3744468"/>
            <a:ext cx="0" cy="649224"/>
          </a:xfrm>
          <a:prstGeom prst="line">
            <a:avLst/>
          </a:prstGeom>
          <a:ln w="22225">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10021" y="2569464"/>
            <a:ext cx="562244" cy="324612"/>
          </a:xfrm>
          <a:prstGeom prst="line">
            <a:avLst/>
          </a:prstGeom>
          <a:ln w="22225">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2354580" y="2002536"/>
            <a:ext cx="1417320"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54580" y="2002536"/>
            <a:ext cx="1417320" cy="566928"/>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Abstraer</a:t>
            </a:r>
          </a:p>
        </p:txBody>
      </p:sp>
      <p:sp>
        <p:nvSpPr>
          <p:cNvPr id="17" name="Rectangle 16"/>
          <p:cNvSpPr/>
          <p:nvPr/>
        </p:nvSpPr>
        <p:spPr>
          <a:xfrm>
            <a:off x="3898772" y="2894076"/>
            <a:ext cx="1417320"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98772" y="2894076"/>
            <a:ext cx="1417320" cy="566928"/>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Razonar</a:t>
            </a:r>
          </a:p>
        </p:txBody>
      </p:sp>
      <p:sp>
        <p:nvSpPr>
          <p:cNvPr id="19" name="Rectangle 18"/>
          <p:cNvSpPr/>
          <p:nvPr/>
        </p:nvSpPr>
        <p:spPr>
          <a:xfrm>
            <a:off x="3898772" y="4677156"/>
            <a:ext cx="1417320"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98772" y="4677156"/>
            <a:ext cx="1417320" cy="566928"/>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Diseñar</a:t>
            </a:r>
          </a:p>
        </p:txBody>
      </p:sp>
      <p:sp>
        <p:nvSpPr>
          <p:cNvPr id="21" name="Rectangle 20"/>
          <p:cNvSpPr/>
          <p:nvPr/>
        </p:nvSpPr>
        <p:spPr>
          <a:xfrm>
            <a:off x="2354580" y="5568696"/>
            <a:ext cx="1417320"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54580" y="5568696"/>
            <a:ext cx="1417320" cy="566928"/>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Elaborar</a:t>
            </a:r>
          </a:p>
        </p:txBody>
      </p:sp>
      <p:sp>
        <p:nvSpPr>
          <p:cNvPr id="23" name="Rectangle 22"/>
          <p:cNvSpPr/>
          <p:nvPr/>
        </p:nvSpPr>
        <p:spPr>
          <a:xfrm>
            <a:off x="810387" y="4677156"/>
            <a:ext cx="1417320"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0387" y="4677156"/>
            <a:ext cx="1417320" cy="566928"/>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Evaluar</a:t>
            </a:r>
          </a:p>
        </p:txBody>
      </p:sp>
      <p:sp>
        <p:nvSpPr>
          <p:cNvPr id="25" name="Rectangle 24"/>
          <p:cNvSpPr/>
          <p:nvPr/>
        </p:nvSpPr>
        <p:spPr>
          <a:xfrm>
            <a:off x="810387" y="2894076"/>
            <a:ext cx="1417320"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387" y="2894076"/>
            <a:ext cx="1417320" cy="566928"/>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Corregir</a:t>
            </a:r>
          </a:p>
        </p:txBody>
      </p:sp>
      <p:sp>
        <p:nvSpPr>
          <p:cNvPr id="27" name="TextBox 26"/>
          <p:cNvSpPr txBox="1"/>
          <p:nvPr/>
        </p:nvSpPr>
        <p:spPr>
          <a:xfrm>
            <a:off x="1965960" y="3657600"/>
            <a:ext cx="2194560" cy="822960"/>
          </a:xfrm>
          <a:prstGeom prst="rect">
            <a:avLst/>
          </a:prstGeom>
          <a:noFill/>
        </p:spPr>
        <p:txBody>
          <a:bodyPr wrap="square" anchor="ctr" lIns="45720" rIns="45720" tIns="18288" bIns="18288">
            <a:spAutoFit/>
          </a:bodyPr>
          <a:lstStyle/>
          <a:p>
            <a:pPr algn="ctr">
              <a:lnSpc>
                <a:spcPct val="115000"/>
              </a:lnSpc>
              <a:spcAft>
                <a:spcPts val="200"/>
              </a:spcAft>
            </a:pPr>
            <a:r>
              <a:rPr sz="1400" b="1">
                <a:solidFill>
                  <a:srgbClr val="F26B1D"/>
                </a:solidFill>
                <a:latin typeface="Segoe UI"/>
              </a:rPr>
              <a:t>La IA propone.</a:t>
            </a:r>
          </a:p>
          <a:p>
            <a:pPr algn="ctr">
              <a:lnSpc>
                <a:spcPct val="115000"/>
              </a:lnSpc>
              <a:spcAft>
                <a:spcPts val="600"/>
              </a:spcAft>
            </a:pPr>
            <a:r>
              <a:rPr sz="1400" b="1">
                <a:solidFill>
                  <a:srgbClr val="111111"/>
                </a:solidFill>
                <a:latin typeface="Segoe UI"/>
              </a:rPr>
              <a:t>El analista decide.</a:t>
            </a:r>
          </a:p>
        </p:txBody>
      </p:sp>
      <p:sp>
        <p:nvSpPr>
          <p:cNvPr id="28" name="TextBox 27"/>
          <p:cNvSpPr txBox="1"/>
          <p:nvPr/>
        </p:nvSpPr>
        <p:spPr>
          <a:xfrm>
            <a:off x="1874519" y="4572000"/>
            <a:ext cx="2377440" cy="365760"/>
          </a:xfrm>
          <a:prstGeom prst="rect">
            <a:avLst/>
          </a:prstGeom>
          <a:noFill/>
        </p:spPr>
        <p:txBody>
          <a:bodyPr wrap="square" anchor="t" lIns="45720" rIns="45720" tIns="18288" bIns="18288">
            <a:spAutoFit/>
          </a:bodyPr>
          <a:lstStyle/>
          <a:p>
            <a:pPr algn="ctr">
              <a:lnSpc>
                <a:spcPct val="115000"/>
              </a:lnSpc>
              <a:spcAft>
                <a:spcPts val="600"/>
              </a:spcAft>
            </a:pPr>
            <a:r>
              <a:rPr sz="1100" b="0">
                <a:solidFill>
                  <a:srgbClr val="6E6E6E"/>
                </a:solidFill>
                <a:latin typeface="Segoe UI"/>
              </a:rPr>
              <a:t>Ciclo continuo</a:t>
            </a:r>
          </a:p>
        </p:txBody>
      </p:sp>
      <p:sp>
        <p:nvSpPr>
          <p:cNvPr id="29" name="TextBox 28"/>
          <p:cNvSpPr txBox="1"/>
          <p:nvPr/>
        </p:nvSpPr>
        <p:spPr>
          <a:xfrm>
            <a:off x="5989320" y="1783080"/>
            <a:ext cx="1234440" cy="32004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6E6E6E"/>
                </a:solidFill>
                <a:latin typeface="Segoe UI"/>
              </a:rPr>
              <a:t>Etapa</a:t>
            </a:r>
          </a:p>
        </p:txBody>
      </p:sp>
      <p:sp>
        <p:nvSpPr>
          <p:cNvPr id="30" name="TextBox 29"/>
          <p:cNvSpPr txBox="1"/>
          <p:nvPr/>
        </p:nvSpPr>
        <p:spPr>
          <a:xfrm>
            <a:off x="7223760" y="1783080"/>
            <a:ext cx="960120" cy="32004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6E6E6E"/>
                </a:solidFill>
                <a:latin typeface="Segoe UI"/>
              </a:rPr>
              <a:t>IA</a:t>
            </a:r>
          </a:p>
        </p:txBody>
      </p:sp>
      <p:sp>
        <p:nvSpPr>
          <p:cNvPr id="31" name="TextBox 30"/>
          <p:cNvSpPr txBox="1"/>
          <p:nvPr/>
        </p:nvSpPr>
        <p:spPr>
          <a:xfrm>
            <a:off x="8183879" y="1783080"/>
            <a:ext cx="1737360" cy="32004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6E6E6E"/>
                </a:solidFill>
                <a:latin typeface="Segoe UI"/>
              </a:rPr>
              <a:t>Qué hace la IA</a:t>
            </a:r>
          </a:p>
        </p:txBody>
      </p:sp>
      <p:sp>
        <p:nvSpPr>
          <p:cNvPr id="32" name="TextBox 31"/>
          <p:cNvSpPr txBox="1"/>
          <p:nvPr/>
        </p:nvSpPr>
        <p:spPr>
          <a:xfrm>
            <a:off x="9966959" y="1783080"/>
            <a:ext cx="1600200" cy="320040"/>
          </a:xfrm>
          <a:prstGeom prst="rect">
            <a:avLst/>
          </a:prstGeom>
          <a:noFill/>
        </p:spPr>
        <p:txBody>
          <a:bodyPr wrap="square" anchor="t" lIns="45720" rIns="45720" tIns="18288" bIns="18288">
            <a:spAutoFit/>
          </a:bodyPr>
          <a:lstStyle/>
          <a:p>
            <a:pPr algn="l">
              <a:lnSpc>
                <a:spcPct val="115000"/>
              </a:lnSpc>
              <a:spcAft>
                <a:spcPts val="600"/>
              </a:spcAft>
            </a:pPr>
            <a:r>
              <a:rPr sz="1100" b="1">
                <a:solidFill>
                  <a:srgbClr val="6E6E6E"/>
                </a:solidFill>
                <a:latin typeface="Segoe UI"/>
              </a:rPr>
              <a:t>Qué hace el analista</a:t>
            </a:r>
          </a:p>
        </p:txBody>
      </p:sp>
      <p:sp>
        <p:nvSpPr>
          <p:cNvPr id="33" name="Rectangle 32"/>
          <p:cNvSpPr/>
          <p:nvPr/>
        </p:nvSpPr>
        <p:spPr>
          <a:xfrm>
            <a:off x="5989320" y="2112264"/>
            <a:ext cx="5532120" cy="1828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89320" y="2240280"/>
            <a:ext cx="1234440" cy="54864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111111"/>
                </a:solidFill>
                <a:latin typeface="Segoe UI"/>
              </a:rPr>
              <a:t>Abstraer</a:t>
            </a:r>
          </a:p>
        </p:txBody>
      </p:sp>
      <p:sp>
        <p:nvSpPr>
          <p:cNvPr id="35" name="Oval 34"/>
          <p:cNvSpPr/>
          <p:nvPr/>
        </p:nvSpPr>
        <p:spPr>
          <a:xfrm>
            <a:off x="7223760" y="2331720"/>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452360" y="2331720"/>
            <a:ext cx="155448" cy="155448"/>
          </a:xfrm>
          <a:prstGeom prst="ellipse">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80960" y="2331720"/>
            <a:ext cx="155448" cy="155448"/>
          </a:xfrm>
          <a:prstGeom prst="ellipse">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83879" y="2240280"/>
            <a:ext cx="173736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Ordena el material para consultarlo.</a:t>
            </a:r>
          </a:p>
        </p:txBody>
      </p:sp>
      <p:sp>
        <p:nvSpPr>
          <p:cNvPr id="39" name="TextBox 38"/>
          <p:cNvSpPr txBox="1"/>
          <p:nvPr/>
        </p:nvSpPr>
        <p:spPr>
          <a:xfrm>
            <a:off x="9966959" y="2240280"/>
            <a:ext cx="160020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Entiende el negocio y escribe los casos de uso.</a:t>
            </a:r>
          </a:p>
        </p:txBody>
      </p:sp>
      <p:sp>
        <p:nvSpPr>
          <p:cNvPr id="40" name="Rectangle 39"/>
          <p:cNvSpPr/>
          <p:nvPr/>
        </p:nvSpPr>
        <p:spPr>
          <a:xfrm>
            <a:off x="5989320" y="2843784"/>
            <a:ext cx="553212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89320" y="2907792"/>
            <a:ext cx="1234440" cy="54864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111111"/>
                </a:solidFill>
                <a:latin typeface="Segoe UI"/>
              </a:rPr>
              <a:t>Razonar</a:t>
            </a:r>
          </a:p>
        </p:txBody>
      </p:sp>
      <p:sp>
        <p:nvSpPr>
          <p:cNvPr id="42" name="Oval 41"/>
          <p:cNvSpPr/>
          <p:nvPr/>
        </p:nvSpPr>
        <p:spPr>
          <a:xfrm>
            <a:off x="7223760" y="2999232"/>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452360" y="2999232"/>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80960" y="2999232"/>
            <a:ext cx="155448" cy="155448"/>
          </a:xfrm>
          <a:prstGeom prst="ellipse">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3879" y="2907792"/>
            <a:ext cx="173736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Detecta ambigüedades y contradicciones.</a:t>
            </a:r>
          </a:p>
        </p:txBody>
      </p:sp>
      <p:sp>
        <p:nvSpPr>
          <p:cNvPr id="46" name="TextBox 45"/>
          <p:cNvSpPr txBox="1"/>
          <p:nvPr/>
        </p:nvSpPr>
        <p:spPr>
          <a:xfrm>
            <a:off x="9966959" y="2907792"/>
            <a:ext cx="160020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Decide cómo se resuelve cada una.</a:t>
            </a:r>
          </a:p>
        </p:txBody>
      </p:sp>
      <p:sp>
        <p:nvSpPr>
          <p:cNvPr id="47" name="Rectangle 46"/>
          <p:cNvSpPr/>
          <p:nvPr/>
        </p:nvSpPr>
        <p:spPr>
          <a:xfrm>
            <a:off x="5989320" y="3511296"/>
            <a:ext cx="553212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89320" y="3575304"/>
            <a:ext cx="1234440" cy="54864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111111"/>
                </a:solidFill>
                <a:latin typeface="Segoe UI"/>
              </a:rPr>
              <a:t>Diseñar</a:t>
            </a:r>
          </a:p>
        </p:txBody>
      </p:sp>
      <p:sp>
        <p:nvSpPr>
          <p:cNvPr id="49" name="Oval 48"/>
          <p:cNvSpPr/>
          <p:nvPr/>
        </p:nvSpPr>
        <p:spPr>
          <a:xfrm>
            <a:off x="7223760" y="3666744"/>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452360" y="3666744"/>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680960" y="3666744"/>
            <a:ext cx="155448" cy="155448"/>
          </a:xfrm>
          <a:prstGeom prst="ellipse">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83879" y="3575304"/>
            <a:ext cx="173736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Propone planes y alternativas.</a:t>
            </a:r>
          </a:p>
        </p:txBody>
      </p:sp>
      <p:sp>
        <p:nvSpPr>
          <p:cNvPr id="53" name="TextBox 52"/>
          <p:cNvSpPr txBox="1"/>
          <p:nvPr/>
        </p:nvSpPr>
        <p:spPr>
          <a:xfrm>
            <a:off x="9966959" y="3575304"/>
            <a:ext cx="160020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Aprueba el plan antes de programar.</a:t>
            </a:r>
          </a:p>
        </p:txBody>
      </p:sp>
      <p:sp>
        <p:nvSpPr>
          <p:cNvPr id="54" name="Rectangle 53"/>
          <p:cNvSpPr/>
          <p:nvPr/>
        </p:nvSpPr>
        <p:spPr>
          <a:xfrm>
            <a:off x="5989320" y="4178808"/>
            <a:ext cx="553212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89320" y="4242816"/>
            <a:ext cx="1234440" cy="54864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111111"/>
                </a:solidFill>
                <a:latin typeface="Segoe UI"/>
              </a:rPr>
              <a:t>Elaborar</a:t>
            </a:r>
          </a:p>
        </p:txBody>
      </p:sp>
      <p:sp>
        <p:nvSpPr>
          <p:cNvPr id="56" name="Oval 55"/>
          <p:cNvSpPr/>
          <p:nvPr/>
        </p:nvSpPr>
        <p:spPr>
          <a:xfrm>
            <a:off x="7223760" y="4334256"/>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452360" y="4334256"/>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680960" y="4334256"/>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83879" y="4242816"/>
            <a:ext cx="173736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Escribe código, pruebas y pantallas.</a:t>
            </a:r>
          </a:p>
        </p:txBody>
      </p:sp>
      <p:sp>
        <p:nvSpPr>
          <p:cNvPr id="60" name="TextBox 59"/>
          <p:cNvSpPr txBox="1"/>
          <p:nvPr/>
        </p:nvSpPr>
        <p:spPr>
          <a:xfrm>
            <a:off x="9966959" y="4242816"/>
            <a:ext cx="160020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Revisa lo que se construye.</a:t>
            </a:r>
          </a:p>
        </p:txBody>
      </p:sp>
      <p:sp>
        <p:nvSpPr>
          <p:cNvPr id="61" name="Rectangle 60"/>
          <p:cNvSpPr/>
          <p:nvPr/>
        </p:nvSpPr>
        <p:spPr>
          <a:xfrm>
            <a:off x="5989320" y="4846320"/>
            <a:ext cx="553212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89320" y="4910328"/>
            <a:ext cx="1234440" cy="54864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111111"/>
                </a:solidFill>
                <a:latin typeface="Segoe UI"/>
              </a:rPr>
              <a:t>Evaluar</a:t>
            </a:r>
          </a:p>
        </p:txBody>
      </p:sp>
      <p:sp>
        <p:nvSpPr>
          <p:cNvPr id="63" name="Oval 62"/>
          <p:cNvSpPr/>
          <p:nvPr/>
        </p:nvSpPr>
        <p:spPr>
          <a:xfrm>
            <a:off x="7223760" y="5001768"/>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452360" y="5001768"/>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680960" y="5001768"/>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83879" y="4910328"/>
            <a:ext cx="173736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Corre pruebas, verificaciones y capturas.</a:t>
            </a:r>
          </a:p>
        </p:txBody>
      </p:sp>
      <p:sp>
        <p:nvSpPr>
          <p:cNvPr id="67" name="TextBox 66"/>
          <p:cNvSpPr txBox="1"/>
          <p:nvPr/>
        </p:nvSpPr>
        <p:spPr>
          <a:xfrm>
            <a:off x="9966959" y="4910328"/>
            <a:ext cx="160020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Valida el resultado en el sistema.</a:t>
            </a:r>
          </a:p>
        </p:txBody>
      </p:sp>
      <p:sp>
        <p:nvSpPr>
          <p:cNvPr id="68" name="Rectangle 67"/>
          <p:cNvSpPr/>
          <p:nvPr/>
        </p:nvSpPr>
        <p:spPr>
          <a:xfrm>
            <a:off x="5989320" y="5513832"/>
            <a:ext cx="553212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89320" y="5577840"/>
            <a:ext cx="1234440" cy="54864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111111"/>
                </a:solidFill>
                <a:latin typeface="Segoe UI"/>
              </a:rPr>
              <a:t>Corregir</a:t>
            </a:r>
          </a:p>
        </p:txBody>
      </p:sp>
      <p:sp>
        <p:nvSpPr>
          <p:cNvPr id="70" name="Oval 69"/>
          <p:cNvSpPr/>
          <p:nvPr/>
        </p:nvSpPr>
        <p:spPr>
          <a:xfrm>
            <a:off x="7223760" y="5669279"/>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452360" y="5669279"/>
            <a:ext cx="155448" cy="155448"/>
          </a:xfrm>
          <a:prstGeom prst="ellipse">
            <a:avLst/>
          </a:prstGeom>
          <a:solidFill>
            <a:srgbClr val="F26B1D"/>
          </a:solidFill>
          <a:ln w="12700">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680960" y="5669279"/>
            <a:ext cx="155448" cy="155448"/>
          </a:xfrm>
          <a:prstGeom prst="ellipse">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83879" y="5577840"/>
            <a:ext cx="173736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Corrige y registra cada decisión.</a:t>
            </a:r>
          </a:p>
        </p:txBody>
      </p:sp>
      <p:sp>
        <p:nvSpPr>
          <p:cNvPr id="74" name="TextBox 73"/>
          <p:cNvSpPr txBox="1"/>
          <p:nvPr/>
        </p:nvSpPr>
        <p:spPr>
          <a:xfrm>
            <a:off x="9966959" y="5577840"/>
            <a:ext cx="1600200" cy="64008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3A3A3A"/>
                </a:solidFill>
                <a:latin typeface="Segoe UI"/>
              </a:rPr>
              <a:t>Enmienda el documento de análisis.</a:t>
            </a:r>
          </a:p>
        </p:txBody>
      </p:sp>
      <p:sp>
        <p:nvSpPr>
          <p:cNvPr id="75" name="Rectangle 74"/>
          <p:cNvSpPr/>
          <p:nvPr/>
        </p:nvSpPr>
        <p:spPr>
          <a:xfrm>
            <a:off x="5989320" y="6181344"/>
            <a:ext cx="553212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89320" y="5897880"/>
            <a:ext cx="5532120" cy="365760"/>
          </a:xfrm>
          <a:prstGeom prst="rect">
            <a:avLst/>
          </a:prstGeom>
          <a:noFill/>
        </p:spPr>
        <p:txBody>
          <a:bodyPr wrap="square" anchor="t" lIns="45720" rIns="45720" tIns="18288" bIns="18288">
            <a:spAutoFit/>
          </a:bodyPr>
          <a:lstStyle/>
          <a:p>
            <a:pPr algn="l">
              <a:lnSpc>
                <a:spcPct val="115000"/>
              </a:lnSpc>
              <a:spcAft>
                <a:spcPts val="600"/>
              </a:spcAft>
            </a:pPr>
            <a:r>
              <a:rPr sz="1100" b="0">
                <a:solidFill>
                  <a:srgbClr val="6E6E6E"/>
                </a:solidFill>
                <a:latin typeface="Segoe UI"/>
              </a:rPr>
              <a:t>Participación de la IA:  ●○○ baja   ●●○ media   ●●● alta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QUÉ ESTÁ HECHO</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Avance medido, no estimado</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3:15   ·   6 / 10</a:t>
            </a:r>
          </a:p>
        </p:txBody>
      </p:sp>
      <p:sp>
        <p:nvSpPr>
          <p:cNvPr id="9" name="Rectangle 8"/>
          <p:cNvSpPr/>
          <p:nvPr/>
        </p:nvSpPr>
        <p:spPr>
          <a:xfrm>
            <a:off x="640080" y="1874519"/>
            <a:ext cx="2606040" cy="1600200"/>
          </a:xfrm>
          <a:prstGeom prst="rect">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11680"/>
            <a:ext cx="2286000" cy="822960"/>
          </a:xfrm>
          <a:prstGeom prst="rect">
            <a:avLst/>
          </a:prstGeom>
          <a:noFill/>
        </p:spPr>
        <p:txBody>
          <a:bodyPr wrap="square" anchor="t" lIns="45720" rIns="45720" tIns="18288" bIns="18288">
            <a:spAutoFit/>
          </a:bodyPr>
          <a:lstStyle/>
          <a:p>
            <a:pPr algn="l">
              <a:lnSpc>
                <a:spcPct val="115000"/>
              </a:lnSpc>
              <a:spcAft>
                <a:spcPts val="600"/>
              </a:spcAft>
            </a:pPr>
            <a:r>
              <a:rPr sz="4400" b="0">
                <a:solidFill>
                  <a:srgbClr val="111111"/>
                </a:solidFill>
                <a:latin typeface="Segoe UI Semibold"/>
              </a:rPr>
              <a:t>103</a:t>
            </a:r>
          </a:p>
        </p:txBody>
      </p:sp>
      <p:sp>
        <p:nvSpPr>
          <p:cNvPr id="11" name="TextBox 10"/>
          <p:cNvSpPr txBox="1"/>
          <p:nvPr/>
        </p:nvSpPr>
        <p:spPr>
          <a:xfrm>
            <a:off x="868680" y="2834640"/>
            <a:ext cx="2286000" cy="5486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casos de uso especificados</a:t>
            </a:r>
          </a:p>
        </p:txBody>
      </p:sp>
      <p:sp>
        <p:nvSpPr>
          <p:cNvPr id="12" name="Rectangle 11"/>
          <p:cNvSpPr/>
          <p:nvPr/>
        </p:nvSpPr>
        <p:spPr>
          <a:xfrm>
            <a:off x="3401568" y="1874519"/>
            <a:ext cx="2606040" cy="1600200"/>
          </a:xfrm>
          <a:prstGeom prst="rect">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2011680"/>
            <a:ext cx="2286000" cy="822960"/>
          </a:xfrm>
          <a:prstGeom prst="rect">
            <a:avLst/>
          </a:prstGeom>
          <a:noFill/>
        </p:spPr>
        <p:txBody>
          <a:bodyPr wrap="square" anchor="t" lIns="45720" rIns="45720" tIns="18288" bIns="18288">
            <a:spAutoFit/>
          </a:bodyPr>
          <a:lstStyle/>
          <a:p>
            <a:pPr algn="l">
              <a:lnSpc>
                <a:spcPct val="115000"/>
              </a:lnSpc>
              <a:spcAft>
                <a:spcPts val="600"/>
              </a:spcAft>
            </a:pPr>
            <a:r>
              <a:rPr sz="4400" b="0">
                <a:solidFill>
                  <a:srgbClr val="F26B1D"/>
                </a:solidFill>
                <a:latin typeface="Segoe UI Semibold"/>
              </a:rPr>
              <a:t>72</a:t>
            </a:r>
          </a:p>
        </p:txBody>
      </p:sp>
      <p:sp>
        <p:nvSpPr>
          <p:cNvPr id="14" name="TextBox 13"/>
          <p:cNvSpPr txBox="1"/>
          <p:nvPr/>
        </p:nvSpPr>
        <p:spPr>
          <a:xfrm>
            <a:off x="3630168" y="2834640"/>
            <a:ext cx="2286000" cy="5486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con código construido</a:t>
            </a:r>
          </a:p>
        </p:txBody>
      </p:sp>
      <p:sp>
        <p:nvSpPr>
          <p:cNvPr id="15" name="Rectangle 14"/>
          <p:cNvSpPr/>
          <p:nvPr/>
        </p:nvSpPr>
        <p:spPr>
          <a:xfrm>
            <a:off x="6163056" y="1874519"/>
            <a:ext cx="2606040" cy="1600200"/>
          </a:xfrm>
          <a:prstGeom prst="rect">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656" y="2011680"/>
            <a:ext cx="2286000" cy="822960"/>
          </a:xfrm>
          <a:prstGeom prst="rect">
            <a:avLst/>
          </a:prstGeom>
          <a:noFill/>
        </p:spPr>
        <p:txBody>
          <a:bodyPr wrap="square" anchor="t" lIns="45720" rIns="45720" tIns="18288" bIns="18288">
            <a:spAutoFit/>
          </a:bodyPr>
          <a:lstStyle/>
          <a:p>
            <a:pPr algn="l">
              <a:lnSpc>
                <a:spcPct val="115000"/>
              </a:lnSpc>
              <a:spcAft>
                <a:spcPts val="600"/>
              </a:spcAft>
            </a:pPr>
            <a:r>
              <a:rPr sz="4400" b="0">
                <a:solidFill>
                  <a:srgbClr val="111111"/>
                </a:solidFill>
                <a:latin typeface="Segoe UI Semibold"/>
              </a:rPr>
              <a:t>219</a:t>
            </a:r>
          </a:p>
        </p:txBody>
      </p:sp>
      <p:sp>
        <p:nvSpPr>
          <p:cNvPr id="17" name="TextBox 16"/>
          <p:cNvSpPr txBox="1"/>
          <p:nvPr/>
        </p:nvSpPr>
        <p:spPr>
          <a:xfrm>
            <a:off x="6391656" y="2834640"/>
            <a:ext cx="2286000" cy="5486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contratos de operación</a:t>
            </a:r>
          </a:p>
        </p:txBody>
      </p:sp>
      <p:sp>
        <p:nvSpPr>
          <p:cNvPr id="18" name="Rectangle 17"/>
          <p:cNvSpPr/>
          <p:nvPr/>
        </p:nvSpPr>
        <p:spPr>
          <a:xfrm>
            <a:off x="8924544" y="1874519"/>
            <a:ext cx="2606040" cy="1600200"/>
          </a:xfrm>
          <a:prstGeom prst="rect">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53144" y="2011680"/>
            <a:ext cx="2286000" cy="822960"/>
          </a:xfrm>
          <a:prstGeom prst="rect">
            <a:avLst/>
          </a:prstGeom>
          <a:noFill/>
        </p:spPr>
        <p:txBody>
          <a:bodyPr wrap="square" anchor="t" lIns="45720" rIns="45720" tIns="18288" bIns="18288">
            <a:spAutoFit/>
          </a:bodyPr>
          <a:lstStyle/>
          <a:p>
            <a:pPr algn="l">
              <a:lnSpc>
                <a:spcPct val="115000"/>
              </a:lnSpc>
              <a:spcAft>
                <a:spcPts val="600"/>
              </a:spcAft>
            </a:pPr>
            <a:r>
              <a:rPr sz="4400" b="0">
                <a:solidFill>
                  <a:srgbClr val="F26B1D"/>
                </a:solidFill>
                <a:latin typeface="Segoe UI Semibold"/>
              </a:rPr>
              <a:t>89</a:t>
            </a:r>
          </a:p>
        </p:txBody>
      </p:sp>
      <p:sp>
        <p:nvSpPr>
          <p:cNvPr id="20" name="TextBox 19"/>
          <p:cNvSpPr txBox="1"/>
          <p:nvPr/>
        </p:nvSpPr>
        <p:spPr>
          <a:xfrm>
            <a:off x="9153144" y="2834640"/>
            <a:ext cx="2286000" cy="548640"/>
          </a:xfrm>
          <a:prstGeom prst="rect">
            <a:avLst/>
          </a:prstGeom>
          <a:noFill/>
        </p:spPr>
        <p:txBody>
          <a:bodyPr wrap="square" anchor="t" lIns="45720" rIns="45720" tIns="18288" bIns="18288">
            <a:spAutoFit/>
          </a:bodyPr>
          <a:lstStyle/>
          <a:p>
            <a:pPr algn="l">
              <a:lnSpc>
                <a:spcPct val="115000"/>
              </a:lnSpc>
              <a:spcAft>
                <a:spcPts val="600"/>
              </a:spcAft>
            </a:pPr>
            <a:r>
              <a:rPr sz="1300" b="0">
                <a:solidFill>
                  <a:srgbClr val="3A3A3A"/>
                </a:solidFill>
                <a:latin typeface="Segoe UI"/>
              </a:rPr>
              <a:t>contratos verificados por prueba</a:t>
            </a:r>
          </a:p>
        </p:txBody>
      </p:sp>
      <p:sp>
        <p:nvSpPr>
          <p:cNvPr id="21" name="TextBox 20"/>
          <p:cNvSpPr txBox="1"/>
          <p:nvPr/>
        </p:nvSpPr>
        <p:spPr>
          <a:xfrm>
            <a:off x="640080" y="3794760"/>
            <a:ext cx="1005840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Estado de los 103 casos de uso</a:t>
            </a:r>
          </a:p>
        </p:txBody>
      </p:sp>
      <p:sp>
        <p:nvSpPr>
          <p:cNvPr id="22" name="Rectangle 21"/>
          <p:cNvSpPr/>
          <p:nvPr/>
        </p:nvSpPr>
        <p:spPr>
          <a:xfrm>
            <a:off x="640080" y="4251960"/>
            <a:ext cx="5070925" cy="50292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251960"/>
            <a:ext cx="5070925" cy="502920"/>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48</a:t>
            </a:r>
          </a:p>
        </p:txBody>
      </p:sp>
      <p:sp>
        <p:nvSpPr>
          <p:cNvPr id="24" name="Rectangle 23"/>
          <p:cNvSpPr/>
          <p:nvPr/>
        </p:nvSpPr>
        <p:spPr>
          <a:xfrm>
            <a:off x="5711005" y="4251960"/>
            <a:ext cx="950798" cy="50292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11005" y="4251960"/>
            <a:ext cx="950798" cy="502920"/>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9</a:t>
            </a:r>
          </a:p>
        </p:txBody>
      </p:sp>
      <p:sp>
        <p:nvSpPr>
          <p:cNvPr id="26" name="Rectangle 25"/>
          <p:cNvSpPr/>
          <p:nvPr/>
        </p:nvSpPr>
        <p:spPr>
          <a:xfrm>
            <a:off x="6661803" y="4251960"/>
            <a:ext cx="1584664" cy="50292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1803" y="4251960"/>
            <a:ext cx="1584664" cy="502920"/>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FFFFFF"/>
                </a:solidFill>
                <a:latin typeface="Segoe UI"/>
              </a:rPr>
              <a:t>15</a:t>
            </a:r>
          </a:p>
        </p:txBody>
      </p:sp>
      <p:sp>
        <p:nvSpPr>
          <p:cNvPr id="28" name="Rectangle 27"/>
          <p:cNvSpPr/>
          <p:nvPr/>
        </p:nvSpPr>
        <p:spPr>
          <a:xfrm>
            <a:off x="8246467" y="4251960"/>
            <a:ext cx="3274972" cy="5029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6467" y="4251960"/>
            <a:ext cx="3274972" cy="502920"/>
          </a:xfrm>
          <a:prstGeom prst="rect">
            <a:avLst/>
          </a:prstGeom>
          <a:noFill/>
        </p:spPr>
        <p:txBody>
          <a:bodyPr wrap="square" anchor="ctr" lIns="45720" rIns="45720" tIns="18288" bIns="18288">
            <a:spAutoFit/>
          </a:bodyPr>
          <a:lstStyle/>
          <a:p>
            <a:pPr algn="ctr">
              <a:lnSpc>
                <a:spcPct val="115000"/>
              </a:lnSpc>
              <a:spcAft>
                <a:spcPts val="600"/>
              </a:spcAft>
            </a:pPr>
            <a:r>
              <a:rPr sz="1400" b="1">
                <a:solidFill>
                  <a:srgbClr val="111111"/>
                </a:solidFill>
                <a:latin typeface="Segoe UI"/>
              </a:rPr>
              <a:t>31</a:t>
            </a:r>
          </a:p>
        </p:txBody>
      </p:sp>
      <p:sp>
        <p:nvSpPr>
          <p:cNvPr id="30" name="Rectangle 29"/>
          <p:cNvSpPr/>
          <p:nvPr/>
        </p:nvSpPr>
        <p:spPr>
          <a:xfrm>
            <a:off x="640080" y="4956048"/>
            <a:ext cx="164592" cy="164592"/>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4873752"/>
            <a:ext cx="2194560" cy="365760"/>
          </a:xfrm>
          <a:prstGeom prst="rect">
            <a:avLst/>
          </a:prstGeom>
          <a:noFill/>
        </p:spPr>
        <p:txBody>
          <a:bodyPr wrap="square" anchor="t" lIns="45720" rIns="45720" tIns="18288" bIns="18288">
            <a:spAutoFit/>
          </a:bodyPr>
          <a:lstStyle/>
          <a:p>
            <a:pPr algn="l">
              <a:lnSpc>
                <a:spcPct val="115000"/>
              </a:lnSpc>
              <a:spcAft>
                <a:spcPts val="600"/>
              </a:spcAft>
            </a:pPr>
            <a:r>
              <a:rPr sz="1200" b="0">
                <a:solidFill>
                  <a:srgbClr val="3A3A3A"/>
                </a:solidFill>
                <a:latin typeface="Segoe UI"/>
              </a:rPr>
              <a:t>Verificados</a:t>
            </a:r>
          </a:p>
        </p:txBody>
      </p:sp>
      <p:sp>
        <p:nvSpPr>
          <p:cNvPr id="32" name="Rectangle 31"/>
          <p:cNvSpPr/>
          <p:nvPr/>
        </p:nvSpPr>
        <p:spPr>
          <a:xfrm>
            <a:off x="3017520" y="4956048"/>
            <a:ext cx="164592" cy="16459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73552" y="4873752"/>
            <a:ext cx="2194560" cy="365760"/>
          </a:xfrm>
          <a:prstGeom prst="rect">
            <a:avLst/>
          </a:prstGeom>
          <a:noFill/>
        </p:spPr>
        <p:txBody>
          <a:bodyPr wrap="square" anchor="t" lIns="45720" rIns="45720" tIns="18288" bIns="18288">
            <a:spAutoFit/>
          </a:bodyPr>
          <a:lstStyle/>
          <a:p>
            <a:pPr algn="l">
              <a:lnSpc>
                <a:spcPct val="115000"/>
              </a:lnSpc>
              <a:spcAft>
                <a:spcPts val="600"/>
              </a:spcAft>
            </a:pPr>
            <a:r>
              <a:rPr sz="1200" b="0">
                <a:solidFill>
                  <a:srgbClr val="3A3A3A"/>
                </a:solidFill>
                <a:latin typeface="Segoe UI"/>
              </a:rPr>
              <a:t>Construidos</a:t>
            </a:r>
          </a:p>
        </p:txBody>
      </p:sp>
      <p:sp>
        <p:nvSpPr>
          <p:cNvPr id="34" name="Rectangle 33"/>
          <p:cNvSpPr/>
          <p:nvPr/>
        </p:nvSpPr>
        <p:spPr>
          <a:xfrm>
            <a:off x="5394960" y="4956048"/>
            <a:ext cx="164592" cy="164592"/>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50992" y="4873752"/>
            <a:ext cx="2194560" cy="365760"/>
          </a:xfrm>
          <a:prstGeom prst="rect">
            <a:avLst/>
          </a:prstGeom>
          <a:noFill/>
        </p:spPr>
        <p:txBody>
          <a:bodyPr wrap="square" anchor="t" lIns="45720" rIns="45720" tIns="18288" bIns="18288">
            <a:spAutoFit/>
          </a:bodyPr>
          <a:lstStyle/>
          <a:p>
            <a:pPr algn="l">
              <a:lnSpc>
                <a:spcPct val="115000"/>
              </a:lnSpc>
              <a:spcAft>
                <a:spcPts val="600"/>
              </a:spcAft>
            </a:pPr>
            <a:r>
              <a:rPr sz="1200" b="0">
                <a:solidFill>
                  <a:srgbClr val="3A3A3A"/>
                </a:solidFill>
                <a:latin typeface="Segoe UI"/>
              </a:rPr>
              <a:t>Parciales</a:t>
            </a:r>
          </a:p>
        </p:txBody>
      </p:sp>
      <p:sp>
        <p:nvSpPr>
          <p:cNvPr id="36" name="Rectangle 35"/>
          <p:cNvSpPr/>
          <p:nvPr/>
        </p:nvSpPr>
        <p:spPr>
          <a:xfrm>
            <a:off x="7772400" y="4956048"/>
            <a:ext cx="164592"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28431" y="4873752"/>
            <a:ext cx="2194560" cy="365760"/>
          </a:xfrm>
          <a:prstGeom prst="rect">
            <a:avLst/>
          </a:prstGeom>
          <a:noFill/>
        </p:spPr>
        <p:txBody>
          <a:bodyPr wrap="square" anchor="t" lIns="45720" rIns="45720" tIns="18288" bIns="18288">
            <a:spAutoFit/>
          </a:bodyPr>
          <a:lstStyle/>
          <a:p>
            <a:pPr algn="l">
              <a:lnSpc>
                <a:spcPct val="115000"/>
              </a:lnSpc>
              <a:spcAft>
                <a:spcPts val="600"/>
              </a:spcAft>
            </a:pPr>
            <a:r>
              <a:rPr sz="1200" b="0">
                <a:solidFill>
                  <a:srgbClr val="3A3A3A"/>
                </a:solidFill>
                <a:latin typeface="Segoe UI"/>
              </a:rPr>
              <a:t>Pendientes</a:t>
            </a:r>
          </a:p>
        </p:txBody>
      </p:sp>
      <p:sp>
        <p:nvSpPr>
          <p:cNvPr id="38" name="TextBox 37"/>
          <p:cNvSpPr txBox="1"/>
          <p:nvPr/>
        </p:nvSpPr>
        <p:spPr>
          <a:xfrm>
            <a:off x="640080" y="5532120"/>
            <a:ext cx="10881360" cy="640080"/>
          </a:xfrm>
          <a:prstGeom prst="rect">
            <a:avLst/>
          </a:prstGeom>
          <a:noFill/>
        </p:spPr>
        <p:txBody>
          <a:bodyPr wrap="square" anchor="t" lIns="45720" rIns="45720" tIns="18288" bIns="18288">
            <a:spAutoFit/>
          </a:bodyPr>
          <a:lstStyle/>
          <a:p>
            <a:pPr algn="l">
              <a:lnSpc>
                <a:spcPct val="115000"/>
              </a:lnSpc>
              <a:spcAft>
                <a:spcPts val="600"/>
              </a:spcAft>
            </a:pPr>
            <a:r>
              <a:rPr sz="1500" b="1">
                <a:solidFill>
                  <a:srgbClr val="111111"/>
                </a:solidFill>
                <a:latin typeface="Segoe UI"/>
              </a:rPr>
              <a:t>1.920 pruebas automáticas  ·  97 % de cobertura del código  ·  las siete verificaciones en verde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QUÉ SE LOGRÓ</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Resultados</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3:45   ·   7 / 10</a:t>
            </a:r>
          </a:p>
        </p:txBody>
      </p:sp>
      <p:sp>
        <p:nvSpPr>
          <p:cNvPr id="9" name="Rectangle 8"/>
          <p:cNvSpPr/>
          <p:nvPr/>
        </p:nvSpPr>
        <p:spPr>
          <a:xfrm>
            <a:off x="640080" y="193852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2880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Trazabilidad</a:t>
            </a:r>
          </a:p>
        </p:txBody>
      </p:sp>
      <p:sp>
        <p:nvSpPr>
          <p:cNvPr id="11" name="TextBox 10"/>
          <p:cNvSpPr txBox="1"/>
          <p:nvPr/>
        </p:nvSpPr>
        <p:spPr>
          <a:xfrm>
            <a:off x="914400" y="219456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Cada contrato verificado tiene una prueba que lo nombra.</a:t>
            </a:r>
          </a:p>
        </p:txBody>
      </p:sp>
      <p:sp>
        <p:nvSpPr>
          <p:cNvPr id="12" name="Rectangle 11"/>
          <p:cNvSpPr/>
          <p:nvPr/>
        </p:nvSpPr>
        <p:spPr>
          <a:xfrm>
            <a:off x="6217920" y="193852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82880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IA con control humano</a:t>
            </a:r>
          </a:p>
        </p:txBody>
      </p:sp>
      <p:sp>
        <p:nvSpPr>
          <p:cNvPr id="14" name="TextBox 13"/>
          <p:cNvSpPr txBox="1"/>
          <p:nvPr/>
        </p:nvSpPr>
        <p:spPr>
          <a:xfrm>
            <a:off x="6492240" y="219456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modelo de lenguaje propone borradores y nunca modifica el catálogo solo.</a:t>
            </a:r>
          </a:p>
        </p:txBody>
      </p:sp>
      <p:sp>
        <p:nvSpPr>
          <p:cNvPr id="15" name="Rectangle 14"/>
          <p:cNvSpPr/>
          <p:nvPr/>
        </p:nvSpPr>
        <p:spPr>
          <a:xfrm>
            <a:off x="640080" y="303580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92608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Auditoría inmutable</a:t>
            </a:r>
          </a:p>
        </p:txBody>
      </p:sp>
      <p:sp>
        <p:nvSpPr>
          <p:cNvPr id="17" name="TextBox 16"/>
          <p:cNvSpPr txBox="1"/>
          <p:nvPr/>
        </p:nvSpPr>
        <p:spPr>
          <a:xfrm>
            <a:off x="914400" y="329184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registro no se puede alterar: lo impide la base de datos, no una pantalla.</a:t>
            </a:r>
          </a:p>
        </p:txBody>
      </p:sp>
      <p:sp>
        <p:nvSpPr>
          <p:cNvPr id="18" name="Rectangle 17"/>
          <p:cNvSpPr/>
          <p:nvPr/>
        </p:nvSpPr>
        <p:spPr>
          <a:xfrm>
            <a:off x="6217920" y="303580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92608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Seguridad por rol</a:t>
            </a:r>
          </a:p>
        </p:txBody>
      </p:sp>
      <p:sp>
        <p:nvSpPr>
          <p:cNvPr id="20" name="TextBox 19"/>
          <p:cNvSpPr txBox="1"/>
          <p:nvPr/>
        </p:nvSpPr>
        <p:spPr>
          <a:xfrm>
            <a:off x="6492240" y="329184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acceso se valida en el servidor, con pruebas que entran con el rol equivocado.</a:t>
            </a:r>
          </a:p>
        </p:txBody>
      </p:sp>
      <p:sp>
        <p:nvSpPr>
          <p:cNvPr id="21" name="Rectangle 20"/>
          <p:cNvSpPr/>
          <p:nvPr/>
        </p:nvSpPr>
        <p:spPr>
          <a:xfrm>
            <a:off x="640080" y="413308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2336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Precios exactos</a:t>
            </a:r>
          </a:p>
        </p:txBody>
      </p:sp>
      <p:sp>
        <p:nvSpPr>
          <p:cNvPr id="23" name="TextBox 22"/>
          <p:cNvSpPr txBox="1"/>
          <p:nvPr/>
        </p:nvSpPr>
        <p:spPr>
          <a:xfrm>
            <a:off x="914400" y="438912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Aritmética decimal y propagación hasta los carritos: el cliente ve el precio vigente.</a:t>
            </a:r>
          </a:p>
        </p:txBody>
      </p:sp>
      <p:sp>
        <p:nvSpPr>
          <p:cNvPr id="24" name="Rectangle 23"/>
          <p:cNvSpPr/>
          <p:nvPr/>
        </p:nvSpPr>
        <p:spPr>
          <a:xfrm>
            <a:off x="6217920" y="413308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02336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Resistencia</a:t>
            </a:r>
          </a:p>
        </p:txBody>
      </p:sp>
      <p:sp>
        <p:nvSpPr>
          <p:cNvPr id="26" name="TextBox 25"/>
          <p:cNvSpPr txBox="1"/>
          <p:nvPr/>
        </p:nvSpPr>
        <p:spPr>
          <a:xfrm>
            <a:off x="6492240" y="438912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50 usuarios a la vez, operaciones simultáneas y ataques: sin errores.</a:t>
            </a:r>
          </a:p>
        </p:txBody>
      </p:sp>
      <p:sp>
        <p:nvSpPr>
          <p:cNvPr id="27" name="Rectangle 26"/>
          <p:cNvSpPr/>
          <p:nvPr/>
        </p:nvSpPr>
        <p:spPr>
          <a:xfrm>
            <a:off x="640080" y="523036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12064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Tienda configurable</a:t>
            </a:r>
          </a:p>
        </p:txBody>
      </p:sp>
      <p:sp>
        <p:nvSpPr>
          <p:cNvPr id="29" name="TextBox 28"/>
          <p:cNvSpPr txBox="1"/>
          <p:nvPr/>
        </p:nvSpPr>
        <p:spPr>
          <a:xfrm>
            <a:off x="914400" y="548640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Portada, filas, imágenes y textos los arma el Administrador, sin programar.</a:t>
            </a:r>
          </a:p>
        </p:txBody>
      </p:sp>
      <p:sp>
        <p:nvSpPr>
          <p:cNvPr id="30" name="Rectangle 29"/>
          <p:cNvSpPr/>
          <p:nvPr/>
        </p:nvSpPr>
        <p:spPr>
          <a:xfrm>
            <a:off x="6217920" y="5230368"/>
            <a:ext cx="109728" cy="109728"/>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120640"/>
            <a:ext cx="5029200" cy="36576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111111"/>
                </a:solidFill>
                <a:latin typeface="Segoe UI"/>
              </a:rPr>
              <a:t>En línea</a:t>
            </a:r>
          </a:p>
        </p:txBody>
      </p:sp>
      <p:sp>
        <p:nvSpPr>
          <p:cNvPr id="32" name="TextBox 31"/>
          <p:cNvSpPr txBox="1"/>
          <p:nvPr/>
        </p:nvSpPr>
        <p:spPr>
          <a:xfrm>
            <a:off x="6492240" y="5486400"/>
            <a:ext cx="5029200" cy="59436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Publicado con HTTPS para esta demostración, desde la PC del local.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QUÉ FALTA</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Próximas etapas</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Presentación · 4:20   ·   8 / 10</a:t>
            </a:r>
          </a:p>
        </p:txBody>
      </p:sp>
      <p:sp>
        <p:nvSpPr>
          <p:cNvPr id="9" name="Rectangle 8"/>
          <p:cNvSpPr/>
          <p:nvPr/>
        </p:nvSpPr>
        <p:spPr>
          <a:xfrm>
            <a:off x="640080" y="1874519"/>
            <a:ext cx="685800" cy="86868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685800" cy="868680"/>
          </a:xfrm>
          <a:prstGeom prst="rect">
            <a:avLst/>
          </a:prstGeom>
          <a:noFill/>
        </p:spPr>
        <p:txBody>
          <a:bodyPr wrap="square" anchor="ctr" lIns="45720" rIns="45720" tIns="18288" bIns="18288">
            <a:spAutoFit/>
          </a:bodyPr>
          <a:lstStyle/>
          <a:p>
            <a:pPr algn="ctr">
              <a:lnSpc>
                <a:spcPct val="115000"/>
              </a:lnSpc>
              <a:spcAft>
                <a:spcPts val="600"/>
              </a:spcAft>
            </a:pPr>
            <a:r>
              <a:rPr sz="2600" b="0">
                <a:solidFill>
                  <a:srgbClr val="FFFFFF"/>
                </a:solidFill>
                <a:latin typeface="Segoe UI Semibold"/>
              </a:rPr>
              <a:t>1</a:t>
            </a:r>
          </a:p>
        </p:txBody>
      </p:sp>
      <p:sp>
        <p:nvSpPr>
          <p:cNvPr id="11" name="TextBox 10"/>
          <p:cNvSpPr txBox="1"/>
          <p:nvPr/>
        </p:nvSpPr>
        <p:spPr>
          <a:xfrm>
            <a:off x="1554480" y="1920239"/>
            <a:ext cx="9875520" cy="41148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111111"/>
                </a:solidFill>
                <a:latin typeface="Segoe UI"/>
              </a:rPr>
              <a:t>Compra y pedidos</a:t>
            </a:r>
          </a:p>
        </p:txBody>
      </p:sp>
      <p:sp>
        <p:nvSpPr>
          <p:cNvPr id="12" name="TextBox 11"/>
          <p:cNvSpPr txBox="1"/>
          <p:nvPr/>
        </p:nvSpPr>
        <p:spPr>
          <a:xfrm>
            <a:off x="1554480" y="2331720"/>
            <a:ext cx="9875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Pago, pedidos y reservas de pre-venta. El pedido es la base de lo que sigue.</a:t>
            </a:r>
          </a:p>
        </p:txBody>
      </p:sp>
      <p:sp>
        <p:nvSpPr>
          <p:cNvPr id="13" name="Rectangle 12"/>
          <p:cNvSpPr/>
          <p:nvPr/>
        </p:nvSpPr>
        <p:spPr>
          <a:xfrm>
            <a:off x="640080" y="2953511"/>
            <a:ext cx="685800" cy="86868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53511"/>
            <a:ext cx="685800" cy="868680"/>
          </a:xfrm>
          <a:prstGeom prst="rect">
            <a:avLst/>
          </a:prstGeom>
          <a:noFill/>
        </p:spPr>
        <p:txBody>
          <a:bodyPr wrap="square" anchor="ctr" lIns="45720" rIns="45720" tIns="18288" bIns="18288">
            <a:spAutoFit/>
          </a:bodyPr>
          <a:lstStyle/>
          <a:p>
            <a:pPr algn="ctr">
              <a:lnSpc>
                <a:spcPct val="115000"/>
              </a:lnSpc>
              <a:spcAft>
                <a:spcPts val="600"/>
              </a:spcAft>
            </a:pPr>
            <a:r>
              <a:rPr sz="2600" b="0">
                <a:solidFill>
                  <a:srgbClr val="FFFFFF"/>
                </a:solidFill>
                <a:latin typeface="Segoe UI Semibold"/>
              </a:rPr>
              <a:t>2</a:t>
            </a:r>
          </a:p>
        </p:txBody>
      </p:sp>
      <p:sp>
        <p:nvSpPr>
          <p:cNvPr id="15" name="TextBox 14"/>
          <p:cNvSpPr txBox="1"/>
          <p:nvPr/>
        </p:nvSpPr>
        <p:spPr>
          <a:xfrm>
            <a:off x="1554480" y="2999231"/>
            <a:ext cx="9875520" cy="41148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111111"/>
                </a:solidFill>
                <a:latin typeface="Segoe UI"/>
              </a:rPr>
              <a:t>Operación del local</a:t>
            </a:r>
          </a:p>
        </p:txBody>
      </p:sp>
      <p:sp>
        <p:nvSpPr>
          <p:cNvPr id="16" name="TextBox 15"/>
          <p:cNvSpPr txBox="1"/>
          <p:nvPr/>
        </p:nvSpPr>
        <p:spPr>
          <a:xfrm>
            <a:off x="1554480" y="3410711"/>
            <a:ext cx="9875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Caja, programa de puntos, devoluciones y stock guardado para clientes.</a:t>
            </a:r>
          </a:p>
        </p:txBody>
      </p:sp>
      <p:sp>
        <p:nvSpPr>
          <p:cNvPr id="17" name="Rectangle 16"/>
          <p:cNvSpPr/>
          <p:nvPr/>
        </p:nvSpPr>
        <p:spPr>
          <a:xfrm>
            <a:off x="640080" y="4032504"/>
            <a:ext cx="685800" cy="86868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032504"/>
            <a:ext cx="685800" cy="868680"/>
          </a:xfrm>
          <a:prstGeom prst="rect">
            <a:avLst/>
          </a:prstGeom>
          <a:noFill/>
        </p:spPr>
        <p:txBody>
          <a:bodyPr wrap="square" anchor="ctr" lIns="45720" rIns="45720" tIns="18288" bIns="18288">
            <a:spAutoFit/>
          </a:bodyPr>
          <a:lstStyle/>
          <a:p>
            <a:pPr algn="ctr">
              <a:lnSpc>
                <a:spcPct val="115000"/>
              </a:lnSpc>
              <a:spcAft>
                <a:spcPts val="600"/>
              </a:spcAft>
            </a:pPr>
            <a:r>
              <a:rPr sz="2600" b="0">
                <a:solidFill>
                  <a:srgbClr val="FFFFFF"/>
                </a:solidFill>
                <a:latin typeface="Segoe UI Semibold"/>
              </a:rPr>
              <a:t>3</a:t>
            </a:r>
          </a:p>
        </p:txBody>
      </p:sp>
      <p:sp>
        <p:nvSpPr>
          <p:cNvPr id="19" name="TextBox 18"/>
          <p:cNvSpPr txBox="1"/>
          <p:nvPr/>
        </p:nvSpPr>
        <p:spPr>
          <a:xfrm>
            <a:off x="1554480" y="4078224"/>
            <a:ext cx="9875520" cy="41148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111111"/>
                </a:solidFill>
                <a:latin typeface="Segoe UI"/>
              </a:rPr>
              <a:t>Procesos automáticos</a:t>
            </a:r>
          </a:p>
        </p:txBody>
      </p:sp>
      <p:sp>
        <p:nvSpPr>
          <p:cNvPr id="20" name="TextBox 19"/>
          <p:cNvSpPr txBox="1"/>
          <p:nvPr/>
        </p:nvSpPr>
        <p:spPr>
          <a:xfrm>
            <a:off x="1554480" y="4489704"/>
            <a:ext cx="9875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temporizador ya corre las ofertas; faltan los vencimientos y avisos de cada módulo.</a:t>
            </a:r>
          </a:p>
        </p:txBody>
      </p:sp>
      <p:sp>
        <p:nvSpPr>
          <p:cNvPr id="21" name="Rectangle 20"/>
          <p:cNvSpPr/>
          <p:nvPr/>
        </p:nvSpPr>
        <p:spPr>
          <a:xfrm>
            <a:off x="640080" y="5111496"/>
            <a:ext cx="685800" cy="86868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111496"/>
            <a:ext cx="685800" cy="868680"/>
          </a:xfrm>
          <a:prstGeom prst="rect">
            <a:avLst/>
          </a:prstGeom>
          <a:noFill/>
        </p:spPr>
        <p:txBody>
          <a:bodyPr wrap="square" anchor="ctr" lIns="45720" rIns="45720" tIns="18288" bIns="18288">
            <a:spAutoFit/>
          </a:bodyPr>
          <a:lstStyle/>
          <a:p>
            <a:pPr algn="ctr">
              <a:lnSpc>
                <a:spcPct val="115000"/>
              </a:lnSpc>
              <a:spcAft>
                <a:spcPts val="600"/>
              </a:spcAft>
            </a:pPr>
            <a:r>
              <a:rPr sz="2600" b="0">
                <a:solidFill>
                  <a:srgbClr val="FFFFFF"/>
                </a:solidFill>
                <a:latin typeface="Segoe UI Semibold"/>
              </a:rPr>
              <a:t>4</a:t>
            </a:r>
          </a:p>
        </p:txBody>
      </p:sp>
      <p:sp>
        <p:nvSpPr>
          <p:cNvPr id="23" name="TextBox 22"/>
          <p:cNvSpPr txBox="1"/>
          <p:nvPr/>
        </p:nvSpPr>
        <p:spPr>
          <a:xfrm>
            <a:off x="1554480" y="5157216"/>
            <a:ext cx="9875520" cy="411480"/>
          </a:xfrm>
          <a:prstGeom prst="rect">
            <a:avLst/>
          </a:prstGeom>
          <a:noFill/>
        </p:spPr>
        <p:txBody>
          <a:bodyPr wrap="square" anchor="t" lIns="45720" rIns="45720" tIns="18288" bIns="18288">
            <a:spAutoFit/>
          </a:bodyPr>
          <a:lstStyle/>
          <a:p>
            <a:pPr algn="l">
              <a:lnSpc>
                <a:spcPct val="115000"/>
              </a:lnSpc>
              <a:spcAft>
                <a:spcPts val="600"/>
              </a:spcAft>
            </a:pPr>
            <a:r>
              <a:rPr sz="1900" b="1">
                <a:solidFill>
                  <a:srgbClr val="111111"/>
                </a:solidFill>
                <a:latin typeface="Segoe UI"/>
              </a:rPr>
              <a:t>Cuenta del cliente</a:t>
            </a:r>
          </a:p>
        </p:txBody>
      </p:sp>
      <p:sp>
        <p:nvSpPr>
          <p:cNvPr id="24" name="TextBox 23"/>
          <p:cNvSpPr txBox="1"/>
          <p:nvPr/>
        </p:nvSpPr>
        <p:spPr>
          <a:xfrm>
            <a:off x="1554480" y="5568696"/>
            <a:ext cx="9875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Panel propio, datos personales y avisos de stock.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7315200" cy="365760"/>
          </a:xfrm>
          <a:prstGeom prst="rect">
            <a:avLst/>
          </a:prstGeom>
          <a:noFill/>
        </p:spPr>
        <p:txBody>
          <a:bodyPr wrap="square" anchor="t" lIns="45720" rIns="45720" tIns="18288" bIns="18288">
            <a:spAutoFit/>
          </a:bodyPr>
          <a:lstStyle/>
          <a:p>
            <a:pPr algn="l">
              <a:lnSpc>
                <a:spcPct val="115000"/>
              </a:lnSpc>
              <a:spcAft>
                <a:spcPts val="600"/>
              </a:spcAft>
            </a:pPr>
            <a:r>
              <a:rPr sz="1300" b="1">
                <a:solidFill>
                  <a:srgbClr val="F26B1D"/>
                </a:solidFill>
                <a:latin typeface="Segoe UI"/>
              </a:rPr>
              <a:t>DEMOSTRACIÓN</a:t>
            </a:r>
          </a:p>
        </p:txBody>
      </p:sp>
      <p:sp>
        <p:nvSpPr>
          <p:cNvPr id="4" name="TextBox 3"/>
          <p:cNvSpPr txBox="1"/>
          <p:nvPr/>
        </p:nvSpPr>
        <p:spPr>
          <a:xfrm>
            <a:off x="640080" y="731520"/>
            <a:ext cx="10789920" cy="822960"/>
          </a:xfrm>
          <a:prstGeom prst="rect">
            <a:avLst/>
          </a:prstGeom>
          <a:noFill/>
        </p:spPr>
        <p:txBody>
          <a:bodyPr wrap="square" anchor="t" lIns="45720" rIns="45720" tIns="18288" bIns="18288">
            <a:spAutoFit/>
          </a:bodyPr>
          <a:lstStyle/>
          <a:p>
            <a:pPr algn="l">
              <a:lnSpc>
                <a:spcPct val="115000"/>
              </a:lnSpc>
              <a:spcAft>
                <a:spcPts val="600"/>
              </a:spcAft>
            </a:pPr>
            <a:r>
              <a:rPr sz="3400" b="0">
                <a:solidFill>
                  <a:srgbClr val="111111"/>
                </a:solidFill>
                <a:latin typeface="Segoe UI Semibold"/>
              </a:rPr>
              <a:t>Recorrido del sistema</a:t>
            </a:r>
          </a:p>
        </p:txBody>
      </p:sp>
      <p:sp>
        <p:nvSpPr>
          <p:cNvPr id="5" name="Rectangle 4"/>
          <p:cNvSpPr/>
          <p:nvPr/>
        </p:nvSpPr>
        <p:spPr>
          <a:xfrm>
            <a:off x="640080" y="1572768"/>
            <a:ext cx="108813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6355080"/>
            <a:ext cx="108813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00800"/>
            <a:ext cx="5486400" cy="320040"/>
          </a:xfrm>
          <a:prstGeom prst="rect">
            <a:avLst/>
          </a:prstGeom>
          <a:noFill/>
        </p:spPr>
        <p:txBody>
          <a:bodyPr wrap="square" anchor="t" lIns="45720" rIns="45720" tIns="18288" bIns="18288">
            <a:spAutoFit/>
          </a:bodyPr>
          <a:lstStyle/>
          <a:p>
            <a:pPr algn="l">
              <a:lnSpc>
                <a:spcPct val="115000"/>
              </a:lnSpc>
              <a:spcAft>
                <a:spcPts val="600"/>
              </a:spcAft>
            </a:pPr>
            <a:r>
              <a:rPr sz="1000" b="0">
                <a:solidFill>
                  <a:srgbClr val="6E6E6E"/>
                </a:solidFill>
                <a:latin typeface="Segoe UI"/>
              </a:rPr>
              <a:t>Longbox · Trabajo final de grado</a:t>
            </a:r>
          </a:p>
        </p:txBody>
      </p:sp>
      <p:sp>
        <p:nvSpPr>
          <p:cNvPr id="8" name="TextBox 7"/>
          <p:cNvSpPr txBox="1"/>
          <p:nvPr/>
        </p:nvSpPr>
        <p:spPr>
          <a:xfrm>
            <a:off x="6949440" y="6400800"/>
            <a:ext cx="4572000" cy="320040"/>
          </a:xfrm>
          <a:prstGeom prst="rect">
            <a:avLst/>
          </a:prstGeom>
          <a:noFill/>
        </p:spPr>
        <p:txBody>
          <a:bodyPr wrap="square" anchor="t" lIns="45720" rIns="45720" tIns="18288" bIns="18288">
            <a:spAutoFit/>
          </a:bodyPr>
          <a:lstStyle/>
          <a:p>
            <a:pPr algn="r">
              <a:lnSpc>
                <a:spcPct val="115000"/>
              </a:lnSpc>
              <a:spcAft>
                <a:spcPts val="600"/>
              </a:spcAft>
            </a:pPr>
            <a:r>
              <a:rPr sz="1000" b="0">
                <a:solidFill>
                  <a:srgbClr val="6E6E6E"/>
                </a:solidFill>
                <a:latin typeface="Segoe UI"/>
              </a:rPr>
              <a:t>Demostración · 5:00   ·   9 / 10</a:t>
            </a:r>
          </a:p>
        </p:txBody>
      </p:sp>
      <p:sp>
        <p:nvSpPr>
          <p:cNvPr id="9" name="TextBox 8"/>
          <p:cNvSpPr txBox="1"/>
          <p:nvPr/>
        </p:nvSpPr>
        <p:spPr>
          <a:xfrm>
            <a:off x="640080" y="1874519"/>
            <a:ext cx="822960" cy="365760"/>
          </a:xfrm>
          <a:prstGeom prst="rect">
            <a:avLst/>
          </a:prstGeom>
          <a:noFill/>
        </p:spPr>
        <p:txBody>
          <a:bodyPr wrap="square" anchor="t" lIns="45720" rIns="45720" tIns="18288" bIns="18288">
            <a:spAutoFit/>
          </a:bodyPr>
          <a:lstStyle/>
          <a:p>
            <a:pPr algn="l">
              <a:lnSpc>
                <a:spcPct val="115000"/>
              </a:lnSpc>
              <a:spcAft>
                <a:spcPts val="600"/>
              </a:spcAft>
            </a:pPr>
            <a:r>
              <a:rPr sz="1400" b="1">
                <a:solidFill>
                  <a:srgbClr val="F26B1D"/>
                </a:solidFill>
                <a:latin typeface="Segoe UI"/>
              </a:rPr>
              <a:t>0:00</a:t>
            </a:r>
          </a:p>
        </p:txBody>
      </p:sp>
      <p:sp>
        <p:nvSpPr>
          <p:cNvPr id="10" name="Rectangle 9"/>
          <p:cNvSpPr/>
          <p:nvPr/>
        </p:nvSpPr>
        <p:spPr>
          <a:xfrm>
            <a:off x="1600200" y="1956816"/>
            <a:ext cx="128016" cy="128016"/>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55064" y="2121408"/>
            <a:ext cx="18288" cy="5669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65960" y="1828800"/>
            <a:ext cx="420624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La tienda, sin iniciar sesión</a:t>
            </a:r>
          </a:p>
        </p:txBody>
      </p:sp>
      <p:sp>
        <p:nvSpPr>
          <p:cNvPr id="13" name="TextBox 12"/>
          <p:cNvSpPr txBox="1"/>
          <p:nvPr/>
        </p:nvSpPr>
        <p:spPr>
          <a:xfrm>
            <a:off x="6217920" y="1856231"/>
            <a:ext cx="5303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Portada, filas, «Lo que se viene» y catálogo con filtros.</a:t>
            </a:r>
          </a:p>
        </p:txBody>
      </p:sp>
      <p:sp>
        <p:nvSpPr>
          <p:cNvPr id="14" name="TextBox 13"/>
          <p:cNvSpPr txBox="1"/>
          <p:nvPr/>
        </p:nvSpPr>
        <p:spPr>
          <a:xfrm>
            <a:off x="640080" y="2587752"/>
            <a:ext cx="822960" cy="365760"/>
          </a:xfrm>
          <a:prstGeom prst="rect">
            <a:avLst/>
          </a:prstGeom>
          <a:noFill/>
        </p:spPr>
        <p:txBody>
          <a:bodyPr wrap="square" anchor="t" lIns="45720" rIns="45720" tIns="18288" bIns="18288">
            <a:spAutoFit/>
          </a:bodyPr>
          <a:lstStyle/>
          <a:p>
            <a:pPr algn="l">
              <a:lnSpc>
                <a:spcPct val="115000"/>
              </a:lnSpc>
              <a:spcAft>
                <a:spcPts val="600"/>
              </a:spcAft>
            </a:pPr>
            <a:r>
              <a:rPr sz="1400" b="1">
                <a:solidFill>
                  <a:srgbClr val="F26B1D"/>
                </a:solidFill>
                <a:latin typeface="Segoe UI"/>
              </a:rPr>
              <a:t>1:00</a:t>
            </a:r>
          </a:p>
        </p:txBody>
      </p:sp>
      <p:sp>
        <p:nvSpPr>
          <p:cNvPr id="15" name="Rectangle 14"/>
          <p:cNvSpPr/>
          <p:nvPr/>
        </p:nvSpPr>
        <p:spPr>
          <a:xfrm>
            <a:off x="1600200" y="2670048"/>
            <a:ext cx="128016" cy="128016"/>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55064" y="2834640"/>
            <a:ext cx="18288" cy="5669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65960" y="2542032"/>
            <a:ext cx="420624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El carrito</a:t>
            </a:r>
          </a:p>
        </p:txBody>
      </p:sp>
      <p:sp>
        <p:nvSpPr>
          <p:cNvPr id="18" name="TextBox 17"/>
          <p:cNvSpPr txBox="1"/>
          <p:nvPr/>
        </p:nvSpPr>
        <p:spPr>
          <a:xfrm>
            <a:off x="6217920" y="2569464"/>
            <a:ext cx="5303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Agregar desde la tarjeta; precio y stock se recalculan solos.</a:t>
            </a:r>
          </a:p>
        </p:txBody>
      </p:sp>
      <p:sp>
        <p:nvSpPr>
          <p:cNvPr id="19" name="TextBox 18"/>
          <p:cNvSpPr txBox="1"/>
          <p:nvPr/>
        </p:nvSpPr>
        <p:spPr>
          <a:xfrm>
            <a:off x="640080" y="3300984"/>
            <a:ext cx="822960" cy="365760"/>
          </a:xfrm>
          <a:prstGeom prst="rect">
            <a:avLst/>
          </a:prstGeom>
          <a:noFill/>
        </p:spPr>
        <p:txBody>
          <a:bodyPr wrap="square" anchor="t" lIns="45720" rIns="45720" tIns="18288" bIns="18288">
            <a:spAutoFit/>
          </a:bodyPr>
          <a:lstStyle/>
          <a:p>
            <a:pPr algn="l">
              <a:lnSpc>
                <a:spcPct val="115000"/>
              </a:lnSpc>
              <a:spcAft>
                <a:spcPts val="600"/>
              </a:spcAft>
            </a:pPr>
            <a:r>
              <a:rPr sz="1400" b="1">
                <a:solidFill>
                  <a:srgbClr val="F26B1D"/>
                </a:solidFill>
                <a:latin typeface="Segoe UI"/>
              </a:rPr>
              <a:t>1:45</a:t>
            </a:r>
          </a:p>
        </p:txBody>
      </p:sp>
      <p:sp>
        <p:nvSpPr>
          <p:cNvPr id="20" name="Rectangle 19"/>
          <p:cNvSpPr/>
          <p:nvPr/>
        </p:nvSpPr>
        <p:spPr>
          <a:xfrm>
            <a:off x="1600200" y="3383280"/>
            <a:ext cx="128016" cy="128016"/>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55064" y="3547872"/>
            <a:ext cx="18288" cy="5669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65960" y="3255264"/>
            <a:ext cx="420624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Precios y ofertas</a:t>
            </a:r>
          </a:p>
        </p:txBody>
      </p:sp>
      <p:sp>
        <p:nvSpPr>
          <p:cNvPr id="23" name="TextBox 22"/>
          <p:cNvSpPr txBox="1"/>
          <p:nvPr/>
        </p:nvSpPr>
        <p:spPr>
          <a:xfrm>
            <a:off x="6217920" y="3282696"/>
            <a:ext cx="5303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Administrador crea una oferta y el carrito la refleja.</a:t>
            </a:r>
          </a:p>
        </p:txBody>
      </p:sp>
      <p:sp>
        <p:nvSpPr>
          <p:cNvPr id="24" name="TextBox 23"/>
          <p:cNvSpPr txBox="1"/>
          <p:nvPr/>
        </p:nvSpPr>
        <p:spPr>
          <a:xfrm>
            <a:off x="640080" y="4014215"/>
            <a:ext cx="822960" cy="365760"/>
          </a:xfrm>
          <a:prstGeom prst="rect">
            <a:avLst/>
          </a:prstGeom>
          <a:noFill/>
        </p:spPr>
        <p:txBody>
          <a:bodyPr wrap="square" anchor="t" lIns="45720" rIns="45720" tIns="18288" bIns="18288">
            <a:spAutoFit/>
          </a:bodyPr>
          <a:lstStyle/>
          <a:p>
            <a:pPr algn="l">
              <a:lnSpc>
                <a:spcPct val="115000"/>
              </a:lnSpc>
              <a:spcAft>
                <a:spcPts val="600"/>
              </a:spcAft>
            </a:pPr>
            <a:r>
              <a:rPr sz="1400" b="1">
                <a:solidFill>
                  <a:srgbClr val="F26B1D"/>
                </a:solidFill>
                <a:latin typeface="Segoe UI"/>
              </a:rPr>
              <a:t>2:30</a:t>
            </a:r>
          </a:p>
        </p:txBody>
      </p:sp>
      <p:sp>
        <p:nvSpPr>
          <p:cNvPr id="25" name="Rectangle 24"/>
          <p:cNvSpPr/>
          <p:nvPr/>
        </p:nvSpPr>
        <p:spPr>
          <a:xfrm>
            <a:off x="1600200" y="4096511"/>
            <a:ext cx="128016" cy="128016"/>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55064" y="4261104"/>
            <a:ext cx="18288" cy="5669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65960" y="3968496"/>
            <a:ext cx="420624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Correo de un proveedor</a:t>
            </a:r>
          </a:p>
        </p:txBody>
      </p:sp>
      <p:sp>
        <p:nvSpPr>
          <p:cNvPr id="28" name="TextBox 27"/>
          <p:cNvSpPr txBox="1"/>
          <p:nvPr/>
        </p:nvSpPr>
        <p:spPr>
          <a:xfrm>
            <a:off x="6217920" y="3995928"/>
            <a:ext cx="5303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modelo propone borradores; una persona confirma.</a:t>
            </a:r>
          </a:p>
        </p:txBody>
      </p:sp>
      <p:sp>
        <p:nvSpPr>
          <p:cNvPr id="29" name="TextBox 28"/>
          <p:cNvSpPr txBox="1"/>
          <p:nvPr/>
        </p:nvSpPr>
        <p:spPr>
          <a:xfrm>
            <a:off x="640080" y="4727448"/>
            <a:ext cx="822960" cy="365760"/>
          </a:xfrm>
          <a:prstGeom prst="rect">
            <a:avLst/>
          </a:prstGeom>
          <a:noFill/>
        </p:spPr>
        <p:txBody>
          <a:bodyPr wrap="square" anchor="t" lIns="45720" rIns="45720" tIns="18288" bIns="18288">
            <a:spAutoFit/>
          </a:bodyPr>
          <a:lstStyle/>
          <a:p>
            <a:pPr algn="l">
              <a:lnSpc>
                <a:spcPct val="115000"/>
              </a:lnSpc>
              <a:spcAft>
                <a:spcPts val="600"/>
              </a:spcAft>
            </a:pPr>
            <a:r>
              <a:rPr sz="1400" b="1">
                <a:solidFill>
                  <a:srgbClr val="F26B1D"/>
                </a:solidFill>
                <a:latin typeface="Segoe UI"/>
              </a:rPr>
              <a:t>3:30</a:t>
            </a:r>
          </a:p>
        </p:txBody>
      </p:sp>
      <p:sp>
        <p:nvSpPr>
          <p:cNvPr id="30" name="Rectangle 29"/>
          <p:cNvSpPr/>
          <p:nvPr/>
        </p:nvSpPr>
        <p:spPr>
          <a:xfrm>
            <a:off x="1600200" y="4809744"/>
            <a:ext cx="128016" cy="128016"/>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55064" y="4974336"/>
            <a:ext cx="18288" cy="5669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65960" y="4681728"/>
            <a:ext cx="420624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Contenido de la tienda</a:t>
            </a:r>
          </a:p>
        </p:txBody>
      </p:sp>
      <p:sp>
        <p:nvSpPr>
          <p:cNvPr id="33" name="TextBox 32"/>
          <p:cNvSpPr txBox="1"/>
          <p:nvPr/>
        </p:nvSpPr>
        <p:spPr>
          <a:xfrm>
            <a:off x="6217920" y="4709160"/>
            <a:ext cx="5303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Filas de la portada e imagen del ingreso, sin programar.</a:t>
            </a:r>
          </a:p>
        </p:txBody>
      </p:sp>
      <p:sp>
        <p:nvSpPr>
          <p:cNvPr id="34" name="TextBox 33"/>
          <p:cNvSpPr txBox="1"/>
          <p:nvPr/>
        </p:nvSpPr>
        <p:spPr>
          <a:xfrm>
            <a:off x="640080" y="5440680"/>
            <a:ext cx="822960" cy="365760"/>
          </a:xfrm>
          <a:prstGeom prst="rect">
            <a:avLst/>
          </a:prstGeom>
          <a:noFill/>
        </p:spPr>
        <p:txBody>
          <a:bodyPr wrap="square" anchor="t" lIns="45720" rIns="45720" tIns="18288" bIns="18288">
            <a:spAutoFit/>
          </a:bodyPr>
          <a:lstStyle/>
          <a:p>
            <a:pPr algn="l">
              <a:lnSpc>
                <a:spcPct val="115000"/>
              </a:lnSpc>
              <a:spcAft>
                <a:spcPts val="600"/>
              </a:spcAft>
            </a:pPr>
            <a:r>
              <a:rPr sz="1400" b="1">
                <a:solidFill>
                  <a:srgbClr val="F26B1D"/>
                </a:solidFill>
                <a:latin typeface="Segoe UI"/>
              </a:rPr>
              <a:t>4:15</a:t>
            </a:r>
          </a:p>
        </p:txBody>
      </p:sp>
      <p:sp>
        <p:nvSpPr>
          <p:cNvPr id="35" name="Rectangle 34"/>
          <p:cNvSpPr/>
          <p:nvPr/>
        </p:nvSpPr>
        <p:spPr>
          <a:xfrm>
            <a:off x="1600200" y="5522976"/>
            <a:ext cx="128016" cy="128016"/>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65960" y="5394960"/>
            <a:ext cx="4206240" cy="365760"/>
          </a:xfrm>
          <a:prstGeom prst="rect">
            <a:avLst/>
          </a:prstGeom>
          <a:noFill/>
        </p:spPr>
        <p:txBody>
          <a:bodyPr wrap="square" anchor="t" lIns="45720" rIns="45720" tIns="18288" bIns="18288">
            <a:spAutoFit/>
          </a:bodyPr>
          <a:lstStyle/>
          <a:p>
            <a:pPr algn="l">
              <a:lnSpc>
                <a:spcPct val="115000"/>
              </a:lnSpc>
              <a:spcAft>
                <a:spcPts val="600"/>
              </a:spcAft>
            </a:pPr>
            <a:r>
              <a:rPr sz="1600" b="1">
                <a:solidFill>
                  <a:srgbClr val="111111"/>
                </a:solidFill>
                <a:latin typeface="Segoe UI"/>
              </a:rPr>
              <a:t>Roles y pruebas</a:t>
            </a:r>
          </a:p>
        </p:txBody>
      </p:sp>
      <p:sp>
        <p:nvSpPr>
          <p:cNvPr id="37" name="TextBox 36"/>
          <p:cNvSpPr txBox="1"/>
          <p:nvPr/>
        </p:nvSpPr>
        <p:spPr>
          <a:xfrm>
            <a:off x="6217920" y="5422392"/>
            <a:ext cx="5303520" cy="457200"/>
          </a:xfrm>
          <a:prstGeom prst="rect">
            <a:avLst/>
          </a:prstGeom>
          <a:noFill/>
        </p:spPr>
        <p:txBody>
          <a:bodyPr wrap="square" anchor="t" lIns="45720" rIns="45720" tIns="18288" bIns="18288">
            <a:spAutoFit/>
          </a:bodyPr>
          <a:lstStyle/>
          <a:p>
            <a:pPr algn="l">
              <a:lnSpc>
                <a:spcPct val="115000"/>
              </a:lnSpc>
              <a:spcAft>
                <a:spcPts val="600"/>
              </a:spcAft>
            </a:pPr>
            <a:r>
              <a:rPr sz="1400" b="0">
                <a:solidFill>
                  <a:srgbClr val="3A3A3A"/>
                </a:solidFill>
                <a:latin typeface="Segoe UI"/>
              </a:rPr>
              <a:t>El Cajero no entra a la configuración. Las pruebas en vivo.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822960" y="2103120"/>
            <a:ext cx="1280160" cy="73152"/>
          </a:xfrm>
          <a:prstGeom prst="rect">
            <a:avLst/>
          </a:prstGeom>
          <a:solidFill>
            <a:srgbClr val="F26B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31720"/>
            <a:ext cx="10058400" cy="914400"/>
          </a:xfrm>
          <a:prstGeom prst="rect">
            <a:avLst/>
          </a:prstGeom>
          <a:noFill/>
        </p:spPr>
        <p:txBody>
          <a:bodyPr wrap="square" anchor="t" lIns="45720" rIns="45720" tIns="18288" bIns="18288">
            <a:spAutoFit/>
          </a:bodyPr>
          <a:lstStyle/>
          <a:p>
            <a:pPr algn="l">
              <a:lnSpc>
                <a:spcPct val="115000"/>
              </a:lnSpc>
              <a:spcAft>
                <a:spcPts val="600"/>
              </a:spcAft>
            </a:pPr>
            <a:r>
              <a:rPr sz="5400" b="0">
                <a:solidFill>
                  <a:srgbClr val="FFFFFF"/>
                </a:solidFill>
                <a:latin typeface="Segoe UI Semibold"/>
              </a:rPr>
              <a:t>Gracias</a:t>
            </a:r>
          </a:p>
        </p:txBody>
      </p:sp>
      <p:sp>
        <p:nvSpPr>
          <p:cNvPr id="4" name="TextBox 3"/>
          <p:cNvSpPr txBox="1"/>
          <p:nvPr/>
        </p:nvSpPr>
        <p:spPr>
          <a:xfrm>
            <a:off x="822960" y="3337560"/>
            <a:ext cx="10515600" cy="1097280"/>
          </a:xfrm>
          <a:prstGeom prst="rect">
            <a:avLst/>
          </a:prstGeom>
          <a:noFill/>
        </p:spPr>
        <p:txBody>
          <a:bodyPr wrap="square" anchor="t" lIns="45720" rIns="45720" tIns="18288" bIns="18288">
            <a:spAutoFit/>
          </a:bodyPr>
          <a:lstStyle/>
          <a:p>
            <a:pPr algn="l">
              <a:lnSpc>
                <a:spcPct val="115000"/>
              </a:lnSpc>
              <a:spcAft>
                <a:spcPts val="600"/>
              </a:spcAft>
            </a:pPr>
            <a:r>
              <a:rPr sz="2200" b="0">
                <a:solidFill>
                  <a:srgbClr val="D9D9D9"/>
                </a:solidFill>
                <a:latin typeface="Segoe UI"/>
              </a:rPr>
              <a:t>Longbox: un sistema para toda la comiquería, construido y verificado contra su documento de análisis.</a:t>
            </a:r>
          </a:p>
        </p:txBody>
      </p:sp>
      <p:sp>
        <p:nvSpPr>
          <p:cNvPr id="5" name="TextBox 4"/>
          <p:cNvSpPr txBox="1"/>
          <p:nvPr/>
        </p:nvSpPr>
        <p:spPr>
          <a:xfrm>
            <a:off x="822960" y="5120640"/>
            <a:ext cx="10058400" cy="457200"/>
          </a:xfrm>
          <a:prstGeom prst="rect">
            <a:avLst/>
          </a:prstGeom>
          <a:noFill/>
        </p:spPr>
        <p:txBody>
          <a:bodyPr wrap="square" anchor="t" lIns="45720" rIns="45720" tIns="18288" bIns="18288">
            <a:spAutoFit/>
          </a:bodyPr>
          <a:lstStyle/>
          <a:p>
            <a:pPr algn="l">
              <a:lnSpc>
                <a:spcPct val="115000"/>
              </a:lnSpc>
              <a:spcAft>
                <a:spcPts val="600"/>
              </a:spcAft>
            </a:pPr>
            <a:r>
              <a:rPr sz="1800" b="1">
                <a:solidFill>
                  <a:srgbClr val="F26B1D"/>
                </a:solidFill>
                <a:latin typeface="Segoe UI"/>
              </a:rPr>
              <a:t>Preguntas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